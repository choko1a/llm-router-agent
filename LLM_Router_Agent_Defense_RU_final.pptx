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58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47DC037-79D0-41C2-83EF-8A4343FC9B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71A8B2C-E9B8-4770-AB26-9D9F45B867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8ABACE7-2A25-4479-827E-31157AC8EA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8FB629-27DD-4FE4-9A19-90F49302BE1A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47625" cy="4953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B029B3D-C7CE-4B67-8A04-1E56411541DB}"/>
              </a:ext>
            </a:extLst>
          </p:cNvPr>
          <p:cNvSpPr>
            <a:spLocks noGrp="1"/>
          </p:cNvSpPr>
          <p:nvPr/>
        </p:nvSpPr>
        <p:spPr>
          <a:xfrm>
            <a:off x="762000" y="5524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9CA3A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CA3AF"/>
                </a:solidFill>
                <a:latin typeface="Aptos"/>
                <a:ea typeface="Aptos"/>
                <a:cs typeface="Aptos"/>
              </a:rPr>
              <a:t>AI INFRASTRUCTURE PROJECT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1A0AADA-DD2E-40C5-BF50-FBF3F6A079D9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53340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LLM Router</a:t>
            </a:r>
          </a:p>
          <a:p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43E9787-59C9-4921-998E-3A2A7A590B9B}"/>
              </a:ext>
            </a:extLst>
          </p:cNvPr>
          <p:cNvSpPr>
            <a:spLocks noGrp="1"/>
          </p:cNvSpPr>
          <p:nvPr/>
        </p:nvSpPr>
        <p:spPr>
          <a:xfrm>
            <a:off x="590550" y="3276600"/>
            <a:ext cx="5334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C7D2F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7D2FE"/>
                </a:solidFill>
                <a:latin typeface="Aptos Display"/>
                <a:ea typeface="Aptos Display"/>
                <a:cs typeface="Aptos Display"/>
              </a:rPr>
              <a:t>Интеллектуальный роутинг между LLM, агентами и инструментами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7EBCC0C-90F7-44F4-9E76-262275F495D4}"/>
              </a:ext>
            </a:extLst>
          </p:cNvPr>
          <p:cNvSpPr>
            <a:spLocks noGrp="1"/>
          </p:cNvSpPr>
          <p:nvPr/>
        </p:nvSpPr>
        <p:spPr>
          <a:xfrm>
            <a:off x="6419850" y="1057275"/>
            <a:ext cx="4972050" cy="3276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rcRect l="14406" r="14406"/>
          <a:stretch>
            <a:fillRect/>
          </a:stretch>
        </p:blipFill>
        <p:spPr>
          <a:xfrm>
            <a:off x="6429375" y="1066800"/>
            <a:ext cx="4953000" cy="3257550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F01AC31-FCBD-44E1-BC08-0FE0491978D8}"/>
              </a:ext>
            </a:extLst>
          </p:cNvPr>
          <p:cNvSpPr>
            <a:spLocks noGrp="1"/>
          </p:cNvSpPr>
          <p:nvPr/>
        </p:nvSpPr>
        <p:spPr>
          <a:xfrm>
            <a:off x="914400" y="4876800"/>
            <a:ext cx="25717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F4BA4D7-BAF5-4148-9257-808E7C07E08E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10B981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75EB9AB-3216-421A-AA52-3311CDE8BEC5}"/>
              </a:ext>
            </a:extLst>
          </p:cNvPr>
          <p:cNvSpPr>
            <a:spLocks noGrp="1"/>
          </p:cNvSpPr>
          <p:nvPr/>
        </p:nvSpPr>
        <p:spPr>
          <a:xfrm>
            <a:off x="1123950" y="5133975"/>
            <a:ext cx="1066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cheap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A8B5920-C96B-47E8-B12B-84A3E807D529}"/>
              </a:ext>
            </a:extLst>
          </p:cNvPr>
          <p:cNvSpPr>
            <a:spLocks noGrp="1"/>
          </p:cNvSpPr>
          <p:nvPr/>
        </p:nvSpPr>
        <p:spPr>
          <a:xfrm>
            <a:off x="1123950" y="54673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простые FAQ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FB17343-438D-4A4F-8C6E-B730ECEC47B8}"/>
              </a:ext>
            </a:extLst>
          </p:cNvPr>
          <p:cNvSpPr>
            <a:spLocks noGrp="1"/>
          </p:cNvSpPr>
          <p:nvPr/>
        </p:nvSpPr>
        <p:spPr>
          <a:xfrm>
            <a:off x="1123950" y="58102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быстро и дешево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AE69E5B-1E6E-4C89-B69D-44347AF62D65}"/>
              </a:ext>
            </a:extLst>
          </p:cNvPr>
          <p:cNvSpPr>
            <a:spLocks noGrp="1"/>
          </p:cNvSpPr>
          <p:nvPr/>
        </p:nvSpPr>
        <p:spPr>
          <a:xfrm>
            <a:off x="4381500" y="4876800"/>
            <a:ext cx="25717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CC7C288-63B7-4EB6-8EC2-58D8012AED51}"/>
              </a:ext>
            </a:extLst>
          </p:cNvPr>
          <p:cNvSpPr>
            <a:spLocks noGrp="1"/>
          </p:cNvSpPr>
          <p:nvPr/>
        </p:nvSpPr>
        <p:spPr>
          <a:xfrm>
            <a:off x="4591050" y="506730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D9B617D-B12C-4A1E-9A8B-F3C0343B8E6F}"/>
              </a:ext>
            </a:extLst>
          </p:cNvPr>
          <p:cNvSpPr>
            <a:spLocks noGrp="1"/>
          </p:cNvSpPr>
          <p:nvPr/>
        </p:nvSpPr>
        <p:spPr>
          <a:xfrm>
            <a:off x="4591050" y="5133975"/>
            <a:ext cx="1066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A59793A-78F4-4537-9ED9-D579CC582A77}"/>
              </a:ext>
            </a:extLst>
          </p:cNvPr>
          <p:cNvSpPr>
            <a:spLocks noGrp="1"/>
          </p:cNvSpPr>
          <p:nvPr/>
        </p:nvSpPr>
        <p:spPr>
          <a:xfrm>
            <a:off x="4591050" y="54673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reasoning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62CE2FE-7768-4F02-8D19-5B6CC51C920F}"/>
              </a:ext>
            </a:extLst>
          </p:cNvPr>
          <p:cNvSpPr>
            <a:spLocks noGrp="1"/>
          </p:cNvSpPr>
          <p:nvPr/>
        </p:nvSpPr>
        <p:spPr>
          <a:xfrm>
            <a:off x="4591050" y="58102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качество выше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D87FB33-E072-43C9-AA48-1461ABF713FA}"/>
              </a:ext>
            </a:extLst>
          </p:cNvPr>
          <p:cNvSpPr>
            <a:spLocks noGrp="1"/>
          </p:cNvSpPr>
          <p:nvPr/>
        </p:nvSpPr>
        <p:spPr>
          <a:xfrm>
            <a:off x="7848600" y="4876800"/>
            <a:ext cx="25717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8E3FB1-C00F-40A6-9F1A-C66933B495B6}"/>
              </a:ext>
            </a:extLst>
          </p:cNvPr>
          <p:cNvSpPr>
            <a:spLocks noGrp="1"/>
          </p:cNvSpPr>
          <p:nvPr/>
        </p:nvSpPr>
        <p:spPr>
          <a:xfrm>
            <a:off x="8058150" y="506730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7C3AED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AB9CDCC-9838-4705-8A9A-C47BE0AB959F}"/>
              </a:ext>
            </a:extLst>
          </p:cNvPr>
          <p:cNvSpPr>
            <a:spLocks noGrp="1"/>
          </p:cNvSpPr>
          <p:nvPr/>
        </p:nvSpPr>
        <p:spPr>
          <a:xfrm>
            <a:off x="8058150" y="5133975"/>
            <a:ext cx="1066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D9C7EF6-976A-401E-9416-333533C10C2E}"/>
              </a:ext>
            </a:extLst>
          </p:cNvPr>
          <p:cNvSpPr>
            <a:spLocks noGrp="1"/>
          </p:cNvSpPr>
          <p:nvPr/>
        </p:nvSpPr>
        <p:spPr>
          <a:xfrm>
            <a:off x="8058150" y="54673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tools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1B93EFC-7772-4CE0-BC89-57B96A023393}"/>
              </a:ext>
            </a:extLst>
          </p:cNvPr>
          <p:cNvSpPr>
            <a:spLocks noGrp="1"/>
          </p:cNvSpPr>
          <p:nvPr/>
        </p:nvSpPr>
        <p:spPr>
          <a:xfrm>
            <a:off x="8058150" y="58102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поиск, repo, code</a:t>
            </a:r>
          </a:p>
        </p:txBody>
      </p:sp>
    </p:spTree>
    <p:extLst>
      <p:ext uri="{BB962C8B-B14F-4D97-AF65-F5344CB8AC3E}">
        <p14:creationId xmlns:p14="http://schemas.microsoft.com/office/powerpoint/2010/main" val="473758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B4E9D9C-7266-494E-A13A-A9953B6175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D48D854-CA49-4E37-BF7F-386AC53C79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80FA7AB-4D3D-41E2-863A-2783997F350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2796B55-DDE0-47C8-B850-F26714F9205C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7BC9166-581F-45B5-B05E-621490C34A87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E49E27A-5E11-459C-A00B-15381CBD9191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Одна LLM для всех запросов превращает продукт в дорогой черный ящик.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A7743B9-FDF6-4D9D-B390-40FDBC9783E7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46291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CED8691-BBD3-4202-8A05-F242BCF12C4D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76200" cy="93345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FD09E52-FA98-4713-820D-9643A500213C}"/>
              </a:ext>
            </a:extLst>
          </p:cNvPr>
          <p:cNvSpPr>
            <a:spLocks noGrp="1"/>
          </p:cNvSpPr>
          <p:nvPr/>
        </p:nvSpPr>
        <p:spPr>
          <a:xfrm>
            <a:off x="971550" y="24955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дорого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166C587-1C95-4EDB-A0F9-C595DA0F1FE1}"/>
              </a:ext>
            </a:extLst>
          </p:cNvPr>
          <p:cNvSpPr>
            <a:spLocks noGrp="1"/>
          </p:cNvSpPr>
          <p:nvPr/>
        </p:nvSpPr>
        <p:spPr>
          <a:xfrm>
            <a:off x="971550" y="2828925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простые FAQ платят цену сильной модели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B99B060-4194-446C-8E27-EBDBAD670EE7}"/>
              </a:ext>
            </a:extLst>
          </p:cNvPr>
          <p:cNvSpPr>
            <a:spLocks noGrp="1"/>
          </p:cNvSpPr>
          <p:nvPr/>
        </p:nvSpPr>
        <p:spPr>
          <a:xfrm>
            <a:off x="5924550" y="2305050"/>
            <a:ext cx="46291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9C7C918-F7E9-4A53-87B3-F06935556F3F}"/>
              </a:ext>
            </a:extLst>
          </p:cNvPr>
          <p:cNvSpPr>
            <a:spLocks noGrp="1"/>
          </p:cNvSpPr>
          <p:nvPr/>
        </p:nvSpPr>
        <p:spPr>
          <a:xfrm>
            <a:off x="5924550" y="2305050"/>
            <a:ext cx="76200" cy="9334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1BF799-DC79-49CF-9336-AB3B5D472ADC}"/>
              </a:ext>
            </a:extLst>
          </p:cNvPr>
          <p:cNvSpPr>
            <a:spLocks noGrp="1"/>
          </p:cNvSpPr>
          <p:nvPr/>
        </p:nvSpPr>
        <p:spPr>
          <a:xfrm>
            <a:off x="6191250" y="249555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медленно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3893864-C09E-4CCF-9CCB-CAD03DCA70BA}"/>
              </a:ext>
            </a:extLst>
          </p:cNvPr>
          <p:cNvSpPr>
            <a:spLocks noGrp="1"/>
          </p:cNvSpPr>
          <p:nvPr/>
        </p:nvSpPr>
        <p:spPr>
          <a:xfrm>
            <a:off x="6191250" y="2828925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каждый запрос проходит тяжелый inference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2A2CCDF-5861-4A8E-8C7E-59EC11AA5499}"/>
              </a:ext>
            </a:extLst>
          </p:cNvPr>
          <p:cNvSpPr>
            <a:spLocks noGrp="1"/>
          </p:cNvSpPr>
          <p:nvPr/>
        </p:nvSpPr>
        <p:spPr>
          <a:xfrm>
            <a:off x="704850" y="3695700"/>
            <a:ext cx="46291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C6ADB3F-E22B-4BC8-BF4E-4EC44B232C13}"/>
              </a:ext>
            </a:extLst>
          </p:cNvPr>
          <p:cNvSpPr>
            <a:spLocks noGrp="1"/>
          </p:cNvSpPr>
          <p:nvPr/>
        </p:nvSpPr>
        <p:spPr>
          <a:xfrm>
            <a:off x="704850" y="3695700"/>
            <a:ext cx="76200" cy="933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E456F66-286A-4DA7-9611-9981443DC9DC}"/>
              </a:ext>
            </a:extLst>
          </p:cNvPr>
          <p:cNvSpPr>
            <a:spLocks noGrp="1"/>
          </p:cNvSpPr>
          <p:nvPr/>
        </p:nvSpPr>
        <p:spPr>
          <a:xfrm>
            <a:off x="971550" y="3886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не всегда качественно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42113AF-036D-404E-A71A-2B43AEC849F6}"/>
              </a:ext>
            </a:extLst>
          </p:cNvPr>
          <p:cNvSpPr>
            <a:spLocks noGrp="1"/>
          </p:cNvSpPr>
          <p:nvPr/>
        </p:nvSpPr>
        <p:spPr>
          <a:xfrm>
            <a:off x="971550" y="4219575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tools и свежие данные не управляются явно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1DFB211-395D-41CB-BA3C-C8B998E7D0D4}"/>
              </a:ext>
            </a:extLst>
          </p:cNvPr>
          <p:cNvSpPr>
            <a:spLocks noGrp="1"/>
          </p:cNvSpPr>
          <p:nvPr/>
        </p:nvSpPr>
        <p:spPr>
          <a:xfrm>
            <a:off x="5924550" y="3695700"/>
            <a:ext cx="46291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9360A78-5A23-437E-9826-48A306025AC2}"/>
              </a:ext>
            </a:extLst>
          </p:cNvPr>
          <p:cNvSpPr>
            <a:spLocks noGrp="1"/>
          </p:cNvSpPr>
          <p:nvPr/>
        </p:nvSpPr>
        <p:spPr>
          <a:xfrm>
            <a:off x="5924550" y="3695700"/>
            <a:ext cx="76200" cy="9334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3C690FA-E831-4CE3-A2A7-0EC08307F204}"/>
              </a:ext>
            </a:extLst>
          </p:cNvPr>
          <p:cNvSpPr>
            <a:spLocks noGrp="1"/>
          </p:cNvSpPr>
          <p:nvPr/>
        </p:nvSpPr>
        <p:spPr>
          <a:xfrm>
            <a:off x="6191250" y="3886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сложно контролировать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D05C664-69A1-4E17-9024-96FF67CD6EF0}"/>
              </a:ext>
            </a:extLst>
          </p:cNvPr>
          <p:cNvSpPr>
            <a:spLocks noGrp="1"/>
          </p:cNvSpPr>
          <p:nvPr/>
        </p:nvSpPr>
        <p:spPr>
          <a:xfrm>
            <a:off x="6191250" y="4219575"/>
            <a:ext cx="3714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fallback, модели и metadata размазаны по коду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03C829D-9370-4196-A955-FAC7F9C0834D}"/>
              </a:ext>
            </a:extLst>
          </p:cNvPr>
          <p:cNvSpPr>
            <a:spLocks noGrp="1"/>
          </p:cNvSpPr>
          <p:nvPr/>
        </p:nvSpPr>
        <p:spPr>
          <a:xfrm>
            <a:off x="3600450" y="5276850"/>
            <a:ext cx="4991100" cy="60960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9DAF6FE-6D37-4B77-BB85-356C7F228A4E}"/>
              </a:ext>
            </a:extLst>
          </p:cNvPr>
          <p:cNvSpPr>
            <a:spLocks noGrp="1"/>
          </p:cNvSpPr>
          <p:nvPr/>
        </p:nvSpPr>
        <p:spPr>
          <a:xfrm>
            <a:off x="3886200" y="5467350"/>
            <a:ext cx="4438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Нужен routing layer: политика выбора модели, tools и fallback до вызова LLM.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A9E9B67-5211-4A10-899F-0902D3166603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A94984C-D735-4940-BEA9-F87E9EB9F20C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Проблема: cost, latency, quality и control решаются на уровне инфраструктуры.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14EAB93-A9D6-47DD-BA8D-E046A126DEC2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2140561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86026CA-AEE8-4D11-96FB-971532E964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715C60-876A-4AF4-B965-6F347E7308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01C6AEC-05B0-4FCB-8A74-51815BB1AB10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CB2399F-F07C-4F03-B6C4-1586C50BF1F8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ИДЕЯ РЕШЕНИЯ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B9E872-57FC-40A5-BE8C-E030615B2AB6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C6C9264-CB21-4E9F-BA15-F1536D7B1F3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Router выбирает минимально достаточный путь для каждого запроса.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F6A7A69-D318-40A9-BFD6-50D839A36D66}"/>
              </a:ext>
            </a:extLst>
          </p:cNvPr>
          <p:cNvSpPr>
            <a:spLocks noGrp="1"/>
          </p:cNvSpPr>
          <p:nvPr/>
        </p:nvSpPr>
        <p:spPr>
          <a:xfrm>
            <a:off x="723900" y="2209800"/>
            <a:ext cx="2286000" cy="91440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8BC5118-68BE-4660-9B8E-7AC356B37BB4}"/>
              </a:ext>
            </a:extLst>
          </p:cNvPr>
          <p:cNvSpPr>
            <a:spLocks noGrp="1"/>
          </p:cNvSpPr>
          <p:nvPr/>
        </p:nvSpPr>
        <p:spPr>
          <a:xfrm>
            <a:off x="723900" y="25336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Query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8C1FB29-A819-4113-8C11-7FFA2926BB32}"/>
              </a:ext>
            </a:extLst>
          </p:cNvPr>
          <p:cNvSpPr>
            <a:spLocks noGrp="1"/>
          </p:cNvSpPr>
          <p:nvPr/>
        </p:nvSpPr>
        <p:spPr>
          <a:xfrm>
            <a:off x="3200400" y="2667000"/>
            <a:ext cx="114300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Равнобедренный треугольник 9">
            <a:extLst>
              <a:ext uri="{FF2B5EF4-FFF2-40B4-BE49-F238E27FC236}">
                <a16:creationId xmlns:a16="http://schemas.microsoft.com/office/drawing/2014/main" id="{0F4AC47E-DC79-4495-A729-47F27FBF5FBF}"/>
              </a:ext>
            </a:extLst>
          </p:cNvPr>
          <p:cNvSpPr>
            <a:spLocks noGrp="1"/>
          </p:cNvSpPr>
          <p:nvPr/>
        </p:nvSpPr>
        <p:spPr>
          <a:xfrm>
            <a:off x="4267200" y="2628900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D441E6E-A7AA-4AEA-8DF9-E72B150D3FD8}"/>
              </a:ext>
            </a:extLst>
          </p:cNvPr>
          <p:cNvSpPr>
            <a:spLocks noGrp="1"/>
          </p:cNvSpPr>
          <p:nvPr/>
        </p:nvSpPr>
        <p:spPr>
          <a:xfrm>
            <a:off x="4514850" y="2133600"/>
            <a:ext cx="3143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CC168FA-3E06-47D9-ABEA-E1CD2F31E6CC}"/>
              </a:ext>
            </a:extLst>
          </p:cNvPr>
          <p:cNvSpPr>
            <a:spLocks noGrp="1"/>
          </p:cNvSpPr>
          <p:nvPr/>
        </p:nvSpPr>
        <p:spPr>
          <a:xfrm>
            <a:off x="4857750" y="240030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Router Layer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AE27CF-B191-4B06-BF1D-9FCAD3EEBE24}"/>
              </a:ext>
            </a:extLst>
          </p:cNvPr>
          <p:cNvSpPr>
            <a:spLocks noGrp="1"/>
          </p:cNvSpPr>
          <p:nvPr/>
        </p:nvSpPr>
        <p:spPr>
          <a:xfrm>
            <a:off x="4857750" y="27813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rules / classifier / llm-router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E2E91D9-36C8-454B-A6AF-B309825792BA}"/>
              </a:ext>
            </a:extLst>
          </p:cNvPr>
          <p:cNvSpPr>
            <a:spLocks noGrp="1"/>
          </p:cNvSpPr>
          <p:nvPr/>
        </p:nvSpPr>
        <p:spPr>
          <a:xfrm>
            <a:off x="7829550" y="2667000"/>
            <a:ext cx="85725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Равнобедренный треугольник 14">
            <a:extLst>
              <a:ext uri="{FF2B5EF4-FFF2-40B4-BE49-F238E27FC236}">
                <a16:creationId xmlns:a16="http://schemas.microsoft.com/office/drawing/2014/main" id="{583A01B5-11BB-4470-BA17-87AA36BA8C37}"/>
              </a:ext>
            </a:extLst>
          </p:cNvPr>
          <p:cNvSpPr>
            <a:spLocks noGrp="1"/>
          </p:cNvSpPr>
          <p:nvPr/>
        </p:nvSpPr>
        <p:spPr>
          <a:xfrm>
            <a:off x="8610600" y="2628900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55330FD-5E45-47AA-B3E7-7E47F98A8F18}"/>
              </a:ext>
            </a:extLst>
          </p:cNvPr>
          <p:cNvSpPr>
            <a:spLocks noGrp="1"/>
          </p:cNvSpPr>
          <p:nvPr/>
        </p:nvSpPr>
        <p:spPr>
          <a:xfrm>
            <a:off x="914400" y="3848100"/>
            <a:ext cx="25717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D8BA108-BFE9-4793-8E4A-946D95D5BAC4}"/>
              </a:ext>
            </a:extLst>
          </p:cNvPr>
          <p:cNvSpPr>
            <a:spLocks noGrp="1"/>
          </p:cNvSpPr>
          <p:nvPr/>
        </p:nvSpPr>
        <p:spPr>
          <a:xfrm>
            <a:off x="1123950" y="403860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10B981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058BBD0-2168-4C4B-971B-07C1CF9FDF93}"/>
              </a:ext>
            </a:extLst>
          </p:cNvPr>
          <p:cNvSpPr>
            <a:spLocks noGrp="1"/>
          </p:cNvSpPr>
          <p:nvPr/>
        </p:nvSpPr>
        <p:spPr>
          <a:xfrm>
            <a:off x="1123950" y="4105275"/>
            <a:ext cx="1066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cheap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3E47AF1-92C6-45F2-AC2D-10587CA71975}"/>
              </a:ext>
            </a:extLst>
          </p:cNvPr>
          <p:cNvSpPr>
            <a:spLocks noGrp="1"/>
          </p:cNvSpPr>
          <p:nvPr/>
        </p:nvSpPr>
        <p:spPr>
          <a:xfrm>
            <a:off x="1123950" y="44386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cheap model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D9A697D-564A-4C5E-A208-D3131A4CC2B7}"/>
              </a:ext>
            </a:extLst>
          </p:cNvPr>
          <p:cNvSpPr>
            <a:spLocks noGrp="1"/>
          </p:cNvSpPr>
          <p:nvPr/>
        </p:nvSpPr>
        <p:spPr>
          <a:xfrm>
            <a:off x="1123950" y="47815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FAQ, короткие запросы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62FD223-A378-445B-B070-FD31CDABFE6B}"/>
              </a:ext>
            </a:extLst>
          </p:cNvPr>
          <p:cNvSpPr>
            <a:spLocks noGrp="1"/>
          </p:cNvSpPr>
          <p:nvPr/>
        </p:nvSpPr>
        <p:spPr>
          <a:xfrm>
            <a:off x="4381500" y="3848100"/>
            <a:ext cx="25717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66EC8F2-F80C-4652-B5AA-ACB7BCB02BAB}"/>
              </a:ext>
            </a:extLst>
          </p:cNvPr>
          <p:cNvSpPr>
            <a:spLocks noGrp="1"/>
          </p:cNvSpPr>
          <p:nvPr/>
        </p:nvSpPr>
        <p:spPr>
          <a:xfrm>
            <a:off x="4591050" y="403860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3391518-6D5B-43C7-8B26-F5B3934C0D00}"/>
              </a:ext>
            </a:extLst>
          </p:cNvPr>
          <p:cNvSpPr>
            <a:spLocks noGrp="1"/>
          </p:cNvSpPr>
          <p:nvPr/>
        </p:nvSpPr>
        <p:spPr>
          <a:xfrm>
            <a:off x="4591050" y="4105275"/>
            <a:ext cx="1066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B0EDCA3-A6A2-44CD-9F7E-B15D4F4E0F74}"/>
              </a:ext>
            </a:extLst>
          </p:cNvPr>
          <p:cNvSpPr>
            <a:spLocks noGrp="1"/>
          </p:cNvSpPr>
          <p:nvPr/>
        </p:nvSpPr>
        <p:spPr>
          <a:xfrm>
            <a:off x="4591050" y="44386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strong model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E4876AF-5BC8-4F8D-90A7-5E5E368A0365}"/>
              </a:ext>
            </a:extLst>
          </p:cNvPr>
          <p:cNvSpPr>
            <a:spLocks noGrp="1"/>
          </p:cNvSpPr>
          <p:nvPr/>
        </p:nvSpPr>
        <p:spPr>
          <a:xfrm>
            <a:off x="4591050" y="47815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анализ, reasoning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C7A9AFE-2F6F-440C-AA47-BCB89C6B02BA}"/>
              </a:ext>
            </a:extLst>
          </p:cNvPr>
          <p:cNvSpPr>
            <a:spLocks noGrp="1"/>
          </p:cNvSpPr>
          <p:nvPr/>
        </p:nvSpPr>
        <p:spPr>
          <a:xfrm>
            <a:off x="7848600" y="3848100"/>
            <a:ext cx="25717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EA6F24E-24ED-4842-9FB0-45D3CF22DF7D}"/>
              </a:ext>
            </a:extLst>
          </p:cNvPr>
          <p:cNvSpPr>
            <a:spLocks noGrp="1"/>
          </p:cNvSpPr>
          <p:nvPr/>
        </p:nvSpPr>
        <p:spPr>
          <a:xfrm>
            <a:off x="8058150" y="4038600"/>
            <a:ext cx="1066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7C3AED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13277C8-B800-4A69-8361-E5C1EB01D023}"/>
              </a:ext>
            </a:extLst>
          </p:cNvPr>
          <p:cNvSpPr>
            <a:spLocks noGrp="1"/>
          </p:cNvSpPr>
          <p:nvPr/>
        </p:nvSpPr>
        <p:spPr>
          <a:xfrm>
            <a:off x="8058150" y="4105275"/>
            <a:ext cx="1066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41B536D-7A30-420A-AE3A-D808139063D8}"/>
              </a:ext>
            </a:extLst>
          </p:cNvPr>
          <p:cNvSpPr>
            <a:spLocks noGrp="1"/>
          </p:cNvSpPr>
          <p:nvPr/>
        </p:nvSpPr>
        <p:spPr>
          <a:xfrm>
            <a:off x="8058150" y="443865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agent route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072C674-7B71-4577-87A7-BD78A4A6304C}"/>
              </a:ext>
            </a:extLst>
          </p:cNvPr>
          <p:cNvSpPr>
            <a:spLocks noGrp="1"/>
          </p:cNvSpPr>
          <p:nvPr/>
        </p:nvSpPr>
        <p:spPr>
          <a:xfrm>
            <a:off x="8058150" y="4781550"/>
            <a:ext cx="21145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tools, web, repo, code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5951F84-6967-4A88-9859-2F08676D7655}"/>
              </a:ext>
            </a:extLst>
          </p:cNvPr>
          <p:cNvSpPr>
            <a:spLocks noGrp="1"/>
          </p:cNvSpPr>
          <p:nvPr/>
        </p:nvSpPr>
        <p:spPr>
          <a:xfrm>
            <a:off x="1543050" y="5772150"/>
            <a:ext cx="9105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Каждый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ответ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возвращает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не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только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текст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</a:t>
            </a:r>
            <a:r>
              <a:rPr sz="1275" b="1" dirty="0" err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но</a:t>
            </a:r>
            <a:r>
              <a:rPr sz="1275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 и metadata: route, confidence, model/tool, latency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3B28D10-3385-4111-846F-C03846F54EC2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1F43B9D-FB87-4DC9-9DB5-16D96B8C5255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Идея: routing как управляющий слой AI-приложения.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F1C2F95-A07B-468A-9126-F4D3555B79AB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4987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624B6C8-194A-47C5-A903-5D0410A20F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385248E-9C55-40F2-BA88-426CCEC33C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27D26F5-6A03-4D2C-A025-E4E019B9E43B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C09962A-3B62-4B40-A181-BA8C1F5C6CCB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АРХИТЕКТУРА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A4624DA-8E60-4DA8-884F-010C704CDD67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2940CD7-7017-4565-8298-33F71D528ABB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Поток запроса прозрачен: от user query до final answer + metadata.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343AA27-D6F3-4457-A580-EF278D67F7DA}"/>
              </a:ext>
            </a:extLst>
          </p:cNvPr>
          <p:cNvSpPr>
            <a:spLocks noGrp="1"/>
          </p:cNvSpPr>
          <p:nvPr/>
        </p:nvSpPr>
        <p:spPr>
          <a:xfrm>
            <a:off x="590550" y="2247900"/>
            <a:ext cx="1619250" cy="5905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A66C1C-E9EE-455D-8C69-58B3F8BBF5EA}"/>
              </a:ext>
            </a:extLst>
          </p:cNvPr>
          <p:cNvSpPr>
            <a:spLocks noGrp="1"/>
          </p:cNvSpPr>
          <p:nvPr/>
        </p:nvSpPr>
        <p:spPr>
          <a:xfrm>
            <a:off x="704850" y="2390775"/>
            <a:ext cx="1390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Query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1EE12AC-0FDE-4598-B75C-A9C9AADCB6C9}"/>
              </a:ext>
            </a:extLst>
          </p:cNvPr>
          <p:cNvSpPr>
            <a:spLocks noGrp="1"/>
          </p:cNvSpPr>
          <p:nvPr/>
        </p:nvSpPr>
        <p:spPr>
          <a:xfrm>
            <a:off x="2762250" y="2057400"/>
            <a:ext cx="2381250" cy="971550"/>
          </a:xfrm>
          <a:prstGeom prst="rect">
            <a:avLst/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81F7296-693E-4613-8F11-008EB3689CA1}"/>
              </a:ext>
            </a:extLst>
          </p:cNvPr>
          <p:cNvSpPr>
            <a:spLocks noGrp="1"/>
          </p:cNvSpPr>
          <p:nvPr/>
        </p:nvSpPr>
        <p:spPr>
          <a:xfrm>
            <a:off x="2876550" y="2200275"/>
            <a:ext cx="21526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Router</a:t>
            </a:r>
          </a:p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rules / classifier / llm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42533E-E129-4F26-A283-0A6464D1E209}"/>
              </a:ext>
            </a:extLst>
          </p:cNvPr>
          <p:cNvSpPr>
            <a:spLocks noGrp="1"/>
          </p:cNvSpPr>
          <p:nvPr/>
        </p:nvSpPr>
        <p:spPr>
          <a:xfrm>
            <a:off x="6000750" y="1504950"/>
            <a:ext cx="1524000" cy="590550"/>
          </a:xfrm>
          <a:prstGeom prst="rect">
            <a:avLst/>
          </a:prstGeom>
          <a:solidFill>
            <a:srgbClr val="10B98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4D556CB-2304-4048-8FC2-982602823724}"/>
              </a:ext>
            </a:extLst>
          </p:cNvPr>
          <p:cNvSpPr>
            <a:spLocks noGrp="1"/>
          </p:cNvSpPr>
          <p:nvPr/>
        </p:nvSpPr>
        <p:spPr>
          <a:xfrm>
            <a:off x="6115050" y="1647825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cheap</a:t>
            </a:r>
          </a:p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9ABD999-B28B-42D4-BC5B-4A99F34C20D4}"/>
              </a:ext>
            </a:extLst>
          </p:cNvPr>
          <p:cNvSpPr>
            <a:spLocks noGrp="1"/>
          </p:cNvSpPr>
          <p:nvPr/>
        </p:nvSpPr>
        <p:spPr>
          <a:xfrm>
            <a:off x="6000750" y="2647950"/>
            <a:ext cx="1524000" cy="590550"/>
          </a:xfrm>
          <a:prstGeom prst="rect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C6EA2D7-AE66-485E-99BF-303AEE53178E}"/>
              </a:ext>
            </a:extLst>
          </p:cNvPr>
          <p:cNvSpPr>
            <a:spLocks noGrp="1"/>
          </p:cNvSpPr>
          <p:nvPr/>
        </p:nvSpPr>
        <p:spPr>
          <a:xfrm>
            <a:off x="6115050" y="2790825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strong</a:t>
            </a:r>
          </a:p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5BFFA44-1C20-4714-9B79-04261214DD6C}"/>
              </a:ext>
            </a:extLst>
          </p:cNvPr>
          <p:cNvSpPr>
            <a:spLocks noGrp="1"/>
          </p:cNvSpPr>
          <p:nvPr/>
        </p:nvSpPr>
        <p:spPr>
          <a:xfrm>
            <a:off x="6000750" y="3790950"/>
            <a:ext cx="1524000" cy="590550"/>
          </a:xfrm>
          <a:prstGeom prst="rect">
            <a:avLst/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AD5703D-2C60-43C5-B083-ED653079A0B3}"/>
              </a:ext>
            </a:extLst>
          </p:cNvPr>
          <p:cNvSpPr>
            <a:spLocks noGrp="1"/>
          </p:cNvSpPr>
          <p:nvPr/>
        </p:nvSpPr>
        <p:spPr>
          <a:xfrm>
            <a:off x="6115050" y="3933825"/>
            <a:ext cx="1295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agent</a:t>
            </a:r>
          </a:p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33FC2B1-5B3D-4815-AD54-16AECF13AF1C}"/>
              </a:ext>
            </a:extLst>
          </p:cNvPr>
          <p:cNvSpPr>
            <a:spLocks noGrp="1"/>
          </p:cNvSpPr>
          <p:nvPr/>
        </p:nvSpPr>
        <p:spPr>
          <a:xfrm>
            <a:off x="8058150" y="3790950"/>
            <a:ext cx="1714500" cy="5905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95B821C-ECF5-411A-806C-D53998100BCF}"/>
              </a:ext>
            </a:extLst>
          </p:cNvPr>
          <p:cNvSpPr>
            <a:spLocks noGrp="1"/>
          </p:cNvSpPr>
          <p:nvPr/>
        </p:nvSpPr>
        <p:spPr>
          <a:xfrm>
            <a:off x="8172450" y="3933825"/>
            <a:ext cx="1485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tool selector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A853F58-44CB-48CE-976C-4C18584D643E}"/>
              </a:ext>
            </a:extLst>
          </p:cNvPr>
          <p:cNvSpPr>
            <a:spLocks noGrp="1"/>
          </p:cNvSpPr>
          <p:nvPr/>
        </p:nvSpPr>
        <p:spPr>
          <a:xfrm>
            <a:off x="7848600" y="4800600"/>
            <a:ext cx="2133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DE5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821B371-1A44-4C22-952C-479C64DEAE3C}"/>
              </a:ext>
            </a:extLst>
          </p:cNvPr>
          <p:cNvSpPr>
            <a:spLocks noGrp="1"/>
          </p:cNvSpPr>
          <p:nvPr/>
        </p:nvSpPr>
        <p:spPr>
          <a:xfrm>
            <a:off x="7962900" y="4943475"/>
            <a:ext cx="1905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web_search</a:t>
            </a:r>
          </a:p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repo_analysis</a:t>
            </a:r>
          </a:p>
          <a:p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code_assistant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36C985A-BF5F-4A94-BBDD-B1792740A7B6}"/>
              </a:ext>
            </a:extLst>
          </p:cNvPr>
          <p:cNvSpPr>
            <a:spLocks noGrp="1"/>
          </p:cNvSpPr>
          <p:nvPr/>
        </p:nvSpPr>
        <p:spPr>
          <a:xfrm>
            <a:off x="10287000" y="2743200"/>
            <a:ext cx="1428750" cy="87630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75E2C4F-F104-47C5-AE54-6B7E613E2764}"/>
              </a:ext>
            </a:extLst>
          </p:cNvPr>
          <p:cNvSpPr>
            <a:spLocks noGrp="1"/>
          </p:cNvSpPr>
          <p:nvPr/>
        </p:nvSpPr>
        <p:spPr>
          <a:xfrm>
            <a:off x="10401300" y="2886075"/>
            <a:ext cx="12001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 Answer</a:t>
            </a:r>
          </a:p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 Metadata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2EB9970-9267-4CBB-A49E-87EECAAA2292}"/>
              </a:ext>
            </a:extLst>
          </p:cNvPr>
          <p:cNvSpPr>
            <a:spLocks noGrp="1"/>
          </p:cNvSpPr>
          <p:nvPr/>
        </p:nvSpPr>
        <p:spPr>
          <a:xfrm>
            <a:off x="2305050" y="2543175"/>
            <a:ext cx="36195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Равнобедренный треугольник 23">
            <a:extLst>
              <a:ext uri="{FF2B5EF4-FFF2-40B4-BE49-F238E27FC236}">
                <a16:creationId xmlns:a16="http://schemas.microsoft.com/office/drawing/2014/main" id="{64E1EBD0-37AC-4188-9BBC-D22C6D11D67E}"/>
              </a:ext>
            </a:extLst>
          </p:cNvPr>
          <p:cNvSpPr>
            <a:spLocks noGrp="1"/>
          </p:cNvSpPr>
          <p:nvPr/>
        </p:nvSpPr>
        <p:spPr>
          <a:xfrm>
            <a:off x="2590800" y="2505075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711CDEC-4F18-4079-B560-D6C0E82230E8}"/>
              </a:ext>
            </a:extLst>
          </p:cNvPr>
          <p:cNvSpPr>
            <a:spLocks noGrp="1"/>
          </p:cNvSpPr>
          <p:nvPr/>
        </p:nvSpPr>
        <p:spPr>
          <a:xfrm>
            <a:off x="5257800" y="2543175"/>
            <a:ext cx="45720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Равнобедренный треугольник 25">
            <a:extLst>
              <a:ext uri="{FF2B5EF4-FFF2-40B4-BE49-F238E27FC236}">
                <a16:creationId xmlns:a16="http://schemas.microsoft.com/office/drawing/2014/main" id="{50495261-43EF-4528-A1F4-B17AE178D111}"/>
              </a:ext>
            </a:extLst>
          </p:cNvPr>
          <p:cNvSpPr>
            <a:spLocks noGrp="1"/>
          </p:cNvSpPr>
          <p:nvPr/>
        </p:nvSpPr>
        <p:spPr>
          <a:xfrm>
            <a:off x="5638800" y="2505075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28548AC-4CF9-459F-930B-0BC2B62A7472}"/>
              </a:ext>
            </a:extLst>
          </p:cNvPr>
          <p:cNvSpPr>
            <a:spLocks noGrp="1"/>
          </p:cNvSpPr>
          <p:nvPr/>
        </p:nvSpPr>
        <p:spPr>
          <a:xfrm>
            <a:off x="7600950" y="1800225"/>
            <a:ext cx="2362200" cy="190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Равнобедренный треугольник 27">
            <a:extLst>
              <a:ext uri="{FF2B5EF4-FFF2-40B4-BE49-F238E27FC236}">
                <a16:creationId xmlns:a16="http://schemas.microsoft.com/office/drawing/2014/main" id="{AA19AACB-BB10-4E2D-925A-3E894AB7B06C}"/>
              </a:ext>
            </a:extLst>
          </p:cNvPr>
          <p:cNvSpPr>
            <a:spLocks noGrp="1"/>
          </p:cNvSpPr>
          <p:nvPr/>
        </p:nvSpPr>
        <p:spPr>
          <a:xfrm>
            <a:off x="9886950" y="1762125"/>
            <a:ext cx="76200" cy="76200"/>
          </a:xfrm>
          <a:prstGeom prst="triangl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F6D67B0-ECCF-4144-AB28-96E406B582E4}"/>
              </a:ext>
            </a:extLst>
          </p:cNvPr>
          <p:cNvSpPr>
            <a:spLocks noGrp="1"/>
          </p:cNvSpPr>
          <p:nvPr/>
        </p:nvSpPr>
        <p:spPr>
          <a:xfrm>
            <a:off x="7600950" y="2943225"/>
            <a:ext cx="2362200" cy="19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Равнобедренный треугольник 29">
            <a:extLst>
              <a:ext uri="{FF2B5EF4-FFF2-40B4-BE49-F238E27FC236}">
                <a16:creationId xmlns:a16="http://schemas.microsoft.com/office/drawing/2014/main" id="{68258127-5DAD-4A77-ACB5-3409A6EA87F6}"/>
              </a:ext>
            </a:extLst>
          </p:cNvPr>
          <p:cNvSpPr>
            <a:spLocks noGrp="1"/>
          </p:cNvSpPr>
          <p:nvPr/>
        </p:nvSpPr>
        <p:spPr>
          <a:xfrm>
            <a:off x="9886950" y="2905125"/>
            <a:ext cx="76200" cy="76200"/>
          </a:xfrm>
          <a:prstGeom prst="triangl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61E47A1-4D32-4DBA-95E9-BA768E9135FD}"/>
              </a:ext>
            </a:extLst>
          </p:cNvPr>
          <p:cNvSpPr>
            <a:spLocks noGrp="1"/>
          </p:cNvSpPr>
          <p:nvPr/>
        </p:nvSpPr>
        <p:spPr>
          <a:xfrm>
            <a:off x="7600950" y="4086225"/>
            <a:ext cx="342900" cy="190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Равнобедренный треугольник 31">
            <a:extLst>
              <a:ext uri="{FF2B5EF4-FFF2-40B4-BE49-F238E27FC236}">
                <a16:creationId xmlns:a16="http://schemas.microsoft.com/office/drawing/2014/main" id="{2367FC1C-E9C7-41FD-889F-379E1F1F1E5D}"/>
              </a:ext>
            </a:extLst>
          </p:cNvPr>
          <p:cNvSpPr>
            <a:spLocks noGrp="1"/>
          </p:cNvSpPr>
          <p:nvPr/>
        </p:nvSpPr>
        <p:spPr>
          <a:xfrm>
            <a:off x="7867650" y="4048125"/>
            <a:ext cx="76200" cy="76200"/>
          </a:xfrm>
          <a:prstGeom prst="triangle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2C50F45-AB5B-46B2-9A38-6882BC8C8D0A}"/>
              </a:ext>
            </a:extLst>
          </p:cNvPr>
          <p:cNvSpPr>
            <a:spLocks noGrp="1"/>
          </p:cNvSpPr>
          <p:nvPr/>
        </p:nvSpPr>
        <p:spPr>
          <a:xfrm>
            <a:off x="8905875" y="4391025"/>
            <a:ext cx="19050" cy="400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2D8CA76-CE09-4999-B13C-D61238B806BF}"/>
              </a:ext>
            </a:extLst>
          </p:cNvPr>
          <p:cNvSpPr>
            <a:spLocks noGrp="1"/>
          </p:cNvSpPr>
          <p:nvPr/>
        </p:nvSpPr>
        <p:spPr>
          <a:xfrm>
            <a:off x="10039350" y="5219700"/>
            <a:ext cx="361950" cy="19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Равнобедренный треугольник 34">
            <a:extLst>
              <a:ext uri="{FF2B5EF4-FFF2-40B4-BE49-F238E27FC236}">
                <a16:creationId xmlns:a16="http://schemas.microsoft.com/office/drawing/2014/main" id="{759146BD-C4DA-497D-8276-8AA839F2C0C7}"/>
              </a:ext>
            </a:extLst>
          </p:cNvPr>
          <p:cNvSpPr>
            <a:spLocks noGrp="1"/>
          </p:cNvSpPr>
          <p:nvPr/>
        </p:nvSpPr>
        <p:spPr>
          <a:xfrm>
            <a:off x="10325100" y="5181600"/>
            <a:ext cx="76200" cy="76200"/>
          </a:xfrm>
          <a:prstGeom prst="triangl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A9B8A143-2056-4709-9A5E-12EE1A089C53}"/>
              </a:ext>
            </a:extLst>
          </p:cNvPr>
          <p:cNvSpPr>
            <a:spLocks noGrp="1"/>
          </p:cNvSpPr>
          <p:nvPr/>
        </p:nvSpPr>
        <p:spPr>
          <a:xfrm>
            <a:off x="10401300" y="5219700"/>
            <a:ext cx="19050" cy="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5EFFF2D-8498-45FE-9D13-E1F810B3E877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2AA79D06-6B55-40D6-9D33-9E3121EAAE12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Архитектура: bounded agent path, OpenRouter provider layer, runtime config without secrets.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59C1B6F7-9614-4258-B203-17ADC58E535E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936350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384A8AE-59E3-4F73-9ECF-41B3FDEAA3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8721B93-B9E0-4D53-A881-7CB0AB1ED8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908F418-F79E-42D7-9FD3-AC270099BCBD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12D429-0383-45F8-B23D-2379D880B379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ROUTER MODES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5A59372-9D66-44F4-AA3D-828C69615EA1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B93C347-2D3D-434B-BBF8-2AECFE666D22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Три режима дают баланс между скоростью, стоимостью и семантической гибкостью.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820FD2D-10D6-4DB1-8D90-C17BBB93F216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Mode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31B8643-72A2-43A2-89AA-FD8481BE7FD5}"/>
              </a:ext>
            </a:extLst>
          </p:cNvPr>
          <p:cNvSpPr>
            <a:spLocks noGrp="1"/>
          </p:cNvSpPr>
          <p:nvPr/>
        </p:nvSpPr>
        <p:spPr>
          <a:xfrm>
            <a:off x="3676650" y="21145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Strengths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5D6794-86B2-46F7-87FF-1D5BADA69AE6}"/>
              </a:ext>
            </a:extLst>
          </p:cNvPr>
          <p:cNvSpPr>
            <a:spLocks noGrp="1"/>
          </p:cNvSpPr>
          <p:nvPr/>
        </p:nvSpPr>
        <p:spPr>
          <a:xfrm>
            <a:off x="7639050" y="21145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17B0CCD-CCED-44D6-A86C-EF1DF198A4E8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10744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2E44A0D-9DC3-4C49-A970-BEB0CE482950}"/>
              </a:ext>
            </a:extLst>
          </p:cNvPr>
          <p:cNvSpPr>
            <a:spLocks noGrp="1"/>
          </p:cNvSpPr>
          <p:nvPr/>
        </p:nvSpPr>
        <p:spPr>
          <a:xfrm>
            <a:off x="723900" y="2590800"/>
            <a:ext cx="76200" cy="7239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B71D94C-BFA3-4D6D-9705-56F981A38BC1}"/>
              </a:ext>
            </a:extLst>
          </p:cNvPr>
          <p:cNvSpPr>
            <a:spLocks noGrp="1"/>
          </p:cNvSpPr>
          <p:nvPr/>
        </p:nvSpPr>
        <p:spPr>
          <a:xfrm>
            <a:off x="990600" y="28194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rules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53701E3-08FA-4B15-996E-4704361D1647}"/>
              </a:ext>
            </a:extLst>
          </p:cNvPr>
          <p:cNvSpPr>
            <a:spLocks noGrp="1"/>
          </p:cNvSpPr>
          <p:nvPr/>
        </p:nvSpPr>
        <p:spPr>
          <a:xfrm>
            <a:off x="3676650" y="28575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fast, predictable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664766C-B19E-4F15-BAD7-FD7A57A1B214}"/>
              </a:ext>
            </a:extLst>
          </p:cNvPr>
          <p:cNvSpPr>
            <a:spLocks noGrp="1"/>
          </p:cNvSpPr>
          <p:nvPr/>
        </p:nvSpPr>
        <p:spPr>
          <a:xfrm>
            <a:off x="7639050" y="28575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rigid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1C50DBF-3B09-43D8-A50B-C4AA981E74E4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10744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4D9C372-D9BA-4B21-AA12-6A3DC50D2EC0}"/>
              </a:ext>
            </a:extLst>
          </p:cNvPr>
          <p:cNvSpPr>
            <a:spLocks noGrp="1"/>
          </p:cNvSpPr>
          <p:nvPr/>
        </p:nvSpPr>
        <p:spPr>
          <a:xfrm>
            <a:off x="723900" y="3657600"/>
            <a:ext cx="76200" cy="723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91A59A0-8815-40E7-85C8-FF41AAB55550}"/>
              </a:ext>
            </a:extLst>
          </p:cNvPr>
          <p:cNvSpPr>
            <a:spLocks noGrp="1"/>
          </p:cNvSpPr>
          <p:nvPr/>
        </p:nvSpPr>
        <p:spPr>
          <a:xfrm>
            <a:off x="990600" y="38862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classifier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5E3A54A-EE8E-4427-ACD5-67FD15956116}"/>
              </a:ext>
            </a:extLst>
          </p:cNvPr>
          <p:cNvSpPr>
            <a:spLocks noGrp="1"/>
          </p:cNvSpPr>
          <p:nvPr/>
        </p:nvSpPr>
        <p:spPr>
          <a:xfrm>
            <a:off x="3676650" y="39243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good balance, cheap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982F528-6353-4EFD-84F6-9AF48B256A54}"/>
              </a:ext>
            </a:extLst>
          </p:cNvPr>
          <p:cNvSpPr>
            <a:spLocks noGrp="1"/>
          </p:cNvSpPr>
          <p:nvPr/>
        </p:nvSpPr>
        <p:spPr>
          <a:xfrm>
            <a:off x="7639050" y="39243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needs training data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7D9FEB2-FF34-4D5F-8633-7F41FB607AF9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107442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B9AA4D4-53EB-4AF9-84D6-D5EF5B10447F}"/>
              </a:ext>
            </a:extLst>
          </p:cNvPr>
          <p:cNvSpPr>
            <a:spLocks noGrp="1"/>
          </p:cNvSpPr>
          <p:nvPr/>
        </p:nvSpPr>
        <p:spPr>
          <a:xfrm>
            <a:off x="723900" y="4724400"/>
            <a:ext cx="76200" cy="7239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080F9CF-F9F5-477D-961B-38599FB9CC64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7C3AED"/>
                </a:solidFill>
                <a:latin typeface="Aptos Display"/>
                <a:ea typeface="Aptos Display"/>
                <a:cs typeface="Aptos Display"/>
              </a:rPr>
              <a:t>llm-router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C302427-23F6-49C2-9008-A55AE0C0EF0D}"/>
              </a:ext>
            </a:extLst>
          </p:cNvPr>
          <p:cNvSpPr>
            <a:spLocks noGrp="1"/>
          </p:cNvSpPr>
          <p:nvPr/>
        </p:nvSpPr>
        <p:spPr>
          <a:xfrm>
            <a:off x="3676650" y="49911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flexible, semantic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7E887CA-584D-44DC-BB77-9B915072AF09}"/>
              </a:ext>
            </a:extLst>
          </p:cNvPr>
          <p:cNvSpPr>
            <a:spLocks noGrp="1"/>
          </p:cNvSpPr>
          <p:nvPr/>
        </p:nvSpPr>
        <p:spPr>
          <a:xfrm>
            <a:off x="7639050" y="49911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can over-use tools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9F0D0F3-2A7C-4168-AA19-DC577F10DCB1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1D041B8-B942-40F1-8EA6-C1A09987EEA7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Режим можно переключать в runtime config и Streamlit UI.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AAF30AA-0A6E-4311-BD80-B8D68C7630F2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179322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7EC0E0E-5872-4314-88E0-970C3FE9AA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A2DF7D2-0C7E-4A03-BD4D-328DBE19F0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F58959F-73C3-4C25-8A7D-38993259237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24654CF-9BB8-4B7D-B583-C89996E5C0C0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AGENT TOOLS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6398FAA-5F98-42D1-9EA8-3CDCDF40D5E7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BB77419-7BDB-4C69-A691-5D695C7DBEB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Agent route подключает инструменты только когда запросу нужен внешний контекст или код.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A97CEA-0CA2-4761-B8A5-C9CDB46A6EA0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285750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0EA5E9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413921D-3840-4CE1-B1D8-E5483D9F0F36}"/>
              </a:ext>
            </a:extLst>
          </p:cNvPr>
          <p:cNvSpPr>
            <a:spLocks noGrp="1"/>
          </p:cNvSpPr>
          <p:nvPr/>
        </p:nvSpPr>
        <p:spPr>
          <a:xfrm>
            <a:off x="1219200" y="2686050"/>
            <a:ext cx="609600" cy="60960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FB3F56-CF60-4761-83CF-AB4ED80947EF}"/>
              </a:ext>
            </a:extLst>
          </p:cNvPr>
          <p:cNvSpPr>
            <a:spLocks noGrp="1"/>
          </p:cNvSpPr>
          <p:nvPr/>
        </p:nvSpPr>
        <p:spPr>
          <a:xfrm>
            <a:off x="1219200" y="2809875"/>
            <a:ext cx="609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6EFB598-89E8-4C47-BC81-72668E787843}"/>
              </a:ext>
            </a:extLst>
          </p:cNvPr>
          <p:cNvSpPr>
            <a:spLocks noGrp="1"/>
          </p:cNvSpPr>
          <p:nvPr/>
        </p:nvSpPr>
        <p:spPr>
          <a:xfrm>
            <a:off x="1219200" y="35433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web_search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08EB50-282D-4CC4-B546-EE24E4D69935}"/>
              </a:ext>
            </a:extLst>
          </p:cNvPr>
          <p:cNvSpPr>
            <a:spLocks noGrp="1"/>
          </p:cNvSpPr>
          <p:nvPr/>
        </p:nvSpPr>
        <p:spPr>
          <a:xfrm>
            <a:off x="1219200" y="39243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Tavily search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9EDAD79-7F16-470F-847D-D0735D0DE5B2}"/>
              </a:ext>
            </a:extLst>
          </p:cNvPr>
          <p:cNvSpPr>
            <a:spLocks noGrp="1"/>
          </p:cNvSpPr>
          <p:nvPr/>
        </p:nvSpPr>
        <p:spPr>
          <a:xfrm>
            <a:off x="1219200" y="422910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свежая информация и источники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9D17FE-637F-4C07-A5AD-74AFA7117FDC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285750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4E7D589-6E11-4CCA-AF8A-4E7DDDCDA11B}"/>
              </a:ext>
            </a:extLst>
          </p:cNvPr>
          <p:cNvSpPr>
            <a:spLocks noGrp="1"/>
          </p:cNvSpPr>
          <p:nvPr/>
        </p:nvSpPr>
        <p:spPr>
          <a:xfrm>
            <a:off x="4743450" y="2686050"/>
            <a:ext cx="609600" cy="6096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07F8320-D8DC-4260-8CED-199BE9C32B16}"/>
              </a:ext>
            </a:extLst>
          </p:cNvPr>
          <p:cNvSpPr>
            <a:spLocks noGrp="1"/>
          </p:cNvSpPr>
          <p:nvPr/>
        </p:nvSpPr>
        <p:spPr>
          <a:xfrm>
            <a:off x="4743450" y="2809875"/>
            <a:ext cx="609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88B5B9A-909C-4A15-9C84-1F9DF87DC618}"/>
              </a:ext>
            </a:extLst>
          </p:cNvPr>
          <p:cNvSpPr>
            <a:spLocks noGrp="1"/>
          </p:cNvSpPr>
          <p:nvPr/>
        </p:nvSpPr>
        <p:spPr>
          <a:xfrm>
            <a:off x="4743450" y="35433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repo_analysis</a:t>
            </a:r>
            <a:endParaRPr sz="1875" b="1" dirty="0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7A114ED-7F17-4CDD-A37E-98619E6A5925}"/>
              </a:ext>
            </a:extLst>
          </p:cNvPr>
          <p:cNvSpPr>
            <a:spLocks noGrp="1"/>
          </p:cNvSpPr>
          <p:nvPr/>
        </p:nvSpPr>
        <p:spPr>
          <a:xfrm>
            <a:off x="4743450" y="39243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GitHub analysis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B36C5EE-7894-4CFC-BE3C-2F0E1CC6B69A}"/>
              </a:ext>
            </a:extLst>
          </p:cNvPr>
          <p:cNvSpPr>
            <a:spLocks noGrp="1"/>
          </p:cNvSpPr>
          <p:nvPr/>
        </p:nvSpPr>
        <p:spPr>
          <a:xfrm>
            <a:off x="4743450" y="422910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структура, README, компоненты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9C8CE23-1383-4C5C-81B5-CAA0E952A63E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2857500" cy="215265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7587B05-6D9D-4144-8D9C-473E127EC3CF}"/>
              </a:ext>
            </a:extLst>
          </p:cNvPr>
          <p:cNvSpPr>
            <a:spLocks noGrp="1"/>
          </p:cNvSpPr>
          <p:nvPr/>
        </p:nvSpPr>
        <p:spPr>
          <a:xfrm>
            <a:off x="8267700" y="2686050"/>
            <a:ext cx="609600" cy="6096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9FC1B3D-D458-43A4-905B-93A5EBD689E2}"/>
              </a:ext>
            </a:extLst>
          </p:cNvPr>
          <p:cNvSpPr>
            <a:spLocks noGrp="1"/>
          </p:cNvSpPr>
          <p:nvPr/>
        </p:nvSpPr>
        <p:spPr>
          <a:xfrm>
            <a:off x="8267700" y="2809875"/>
            <a:ext cx="609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205B741-252D-4C5B-824D-F281D32EF057}"/>
              </a:ext>
            </a:extLst>
          </p:cNvPr>
          <p:cNvSpPr>
            <a:spLocks noGrp="1"/>
          </p:cNvSpPr>
          <p:nvPr/>
        </p:nvSpPr>
        <p:spPr>
          <a:xfrm>
            <a:off x="8267700" y="35433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code_assistant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31DD973-97B9-46AF-897B-C56F5368FC0E}"/>
              </a:ext>
            </a:extLst>
          </p:cNvPr>
          <p:cNvSpPr>
            <a:spLocks noGrp="1"/>
          </p:cNvSpPr>
          <p:nvPr/>
        </p:nvSpPr>
        <p:spPr>
          <a:xfrm>
            <a:off x="8267700" y="392430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code model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CFD5E5C-1DCB-4E0B-ACE6-882933DEE483}"/>
              </a:ext>
            </a:extLst>
          </p:cNvPr>
          <p:cNvSpPr>
            <a:spLocks noGrp="1"/>
          </p:cNvSpPr>
          <p:nvPr/>
        </p:nvSpPr>
        <p:spPr>
          <a:xfrm>
            <a:off x="8267700" y="422910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675"/>
                </a:solidFill>
                <a:latin typeface="Aptos"/>
                <a:ea typeface="Aptos"/>
                <a:cs typeface="Aptos"/>
              </a:rPr>
              <a:t>FastAPI, pytest, debugging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60A6DFD-1312-4B26-AEE2-E5E9687D05CD}"/>
              </a:ext>
            </a:extLst>
          </p:cNvPr>
          <p:cNvSpPr>
            <a:spLocks noGrp="1"/>
          </p:cNvSpPr>
          <p:nvPr/>
        </p:nvSpPr>
        <p:spPr>
          <a:xfrm>
            <a:off x="2647950" y="5105400"/>
            <a:ext cx="6896100" cy="5143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FE5C54-16B3-46B0-AECF-B9F316D8EFC8}"/>
              </a:ext>
            </a:extLst>
          </p:cNvPr>
          <p:cNvSpPr>
            <a:spLocks noGrp="1"/>
          </p:cNvSpPr>
          <p:nvPr/>
        </p:nvSpPr>
        <p:spPr>
          <a:xfrm>
            <a:off x="2895600" y="5267325"/>
            <a:ext cx="6400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 ограничивает agent workflow одним tool call: управляемо, дешево, удобно для защиты.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3EE02DBA-C3E6-44AB-AC0A-3627E6E96582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C1A4DB3-2D10-4225-9696-73C43F908B85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Agent tools: web_search, repo_analysis, code_assistant.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8EA3D7E0-06E0-4E5B-AF61-67080C590639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1499748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501DC86-39DA-4518-AD4B-E5D178E86B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5928576-5167-4E5B-8C48-B7225C34E3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602D660-4769-41D3-BE33-9CA99CEFE7DB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CB750F6-BB6B-4D6A-B6C7-D2DA3B427ABC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DEMO UI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4D4BB70-302F-4AF4-AB75-D2D1E9C2B2EF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00C6969-A87D-4592-A74D-ADCB67E0C19A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Streamlit UI показывает routing decision и metadata рядом с ответом.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BECCFE8-3BC5-4170-8B10-2E5A8286ED11}"/>
              </a:ext>
            </a:extLst>
          </p:cNvPr>
          <p:cNvSpPr>
            <a:spLocks noGrp="1"/>
          </p:cNvSpPr>
          <p:nvPr/>
        </p:nvSpPr>
        <p:spPr>
          <a:xfrm>
            <a:off x="619125" y="1724025"/>
            <a:ext cx="7353300" cy="344805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t="71" b="71"/>
          <a:stretch>
            <a:fillRect/>
          </a:stretch>
        </p:blipFill>
        <p:spPr>
          <a:xfrm>
            <a:off x="628650" y="1733550"/>
            <a:ext cx="7334250" cy="3429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4AE2EEC-3AC0-47EA-9E93-09B19CF08418}"/>
              </a:ext>
            </a:extLst>
          </p:cNvPr>
          <p:cNvSpPr>
            <a:spLocks noGrp="1"/>
          </p:cNvSpPr>
          <p:nvPr/>
        </p:nvSpPr>
        <p:spPr>
          <a:xfrm>
            <a:off x="8496300" y="1924050"/>
            <a:ext cx="27241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88DF382-09E6-431F-A1EB-51DCEFF0DA61}"/>
              </a:ext>
            </a:extLst>
          </p:cNvPr>
          <p:cNvSpPr>
            <a:spLocks noGrp="1"/>
          </p:cNvSpPr>
          <p:nvPr/>
        </p:nvSpPr>
        <p:spPr>
          <a:xfrm>
            <a:off x="8667750" y="2000250"/>
            <a:ext cx="990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4159F0-E5B6-4C42-B325-3389E7F1E8F1}"/>
              </a:ext>
            </a:extLst>
          </p:cNvPr>
          <p:cNvSpPr>
            <a:spLocks noGrp="1"/>
          </p:cNvSpPr>
          <p:nvPr/>
        </p:nvSpPr>
        <p:spPr>
          <a:xfrm>
            <a:off x="9696450" y="202882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9F7A7CA-C828-4798-9211-CAFC5588BE7F}"/>
              </a:ext>
            </a:extLst>
          </p:cNvPr>
          <p:cNvSpPr>
            <a:spLocks noGrp="1"/>
          </p:cNvSpPr>
          <p:nvPr/>
        </p:nvSpPr>
        <p:spPr>
          <a:xfrm>
            <a:off x="8496300" y="2562225"/>
            <a:ext cx="27241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5C667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0CBC73E-43C6-4636-8387-19FBE428705E}"/>
              </a:ext>
            </a:extLst>
          </p:cNvPr>
          <p:cNvSpPr>
            <a:spLocks noGrp="1"/>
          </p:cNvSpPr>
          <p:nvPr/>
        </p:nvSpPr>
        <p:spPr>
          <a:xfrm>
            <a:off x="8667750" y="2638425"/>
            <a:ext cx="990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tool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D67727C-38C0-429E-8169-CEA867328A7E}"/>
              </a:ext>
            </a:extLst>
          </p:cNvPr>
          <p:cNvSpPr>
            <a:spLocks noGrp="1"/>
          </p:cNvSpPr>
          <p:nvPr/>
        </p:nvSpPr>
        <p:spPr>
          <a:xfrm>
            <a:off x="9696450" y="266700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40D3902-F12D-4A46-A082-7B7BF48689AF}"/>
              </a:ext>
            </a:extLst>
          </p:cNvPr>
          <p:cNvSpPr>
            <a:spLocks noGrp="1"/>
          </p:cNvSpPr>
          <p:nvPr/>
        </p:nvSpPr>
        <p:spPr>
          <a:xfrm>
            <a:off x="8496300" y="3200400"/>
            <a:ext cx="27241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FB67BFA-377A-4DF3-BEDC-362AD109A66B}"/>
              </a:ext>
            </a:extLst>
          </p:cNvPr>
          <p:cNvSpPr>
            <a:spLocks noGrp="1"/>
          </p:cNvSpPr>
          <p:nvPr/>
        </p:nvSpPr>
        <p:spPr>
          <a:xfrm>
            <a:off x="8667750" y="3276600"/>
            <a:ext cx="990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48057BD-9D37-4224-9207-0BF149B53700}"/>
              </a:ext>
            </a:extLst>
          </p:cNvPr>
          <p:cNvSpPr>
            <a:spLocks noGrp="1"/>
          </p:cNvSpPr>
          <p:nvPr/>
        </p:nvSpPr>
        <p:spPr>
          <a:xfrm>
            <a:off x="9696450" y="330517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gpt-4o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9385810-8213-4CFD-BCE9-2DB8D9085751}"/>
              </a:ext>
            </a:extLst>
          </p:cNvPr>
          <p:cNvSpPr>
            <a:spLocks noGrp="1"/>
          </p:cNvSpPr>
          <p:nvPr/>
        </p:nvSpPr>
        <p:spPr>
          <a:xfrm>
            <a:off x="8496300" y="3838575"/>
            <a:ext cx="27241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5B6376A-2F8F-47E6-B658-97A8D6A524A8}"/>
              </a:ext>
            </a:extLst>
          </p:cNvPr>
          <p:cNvSpPr>
            <a:spLocks noGrp="1"/>
          </p:cNvSpPr>
          <p:nvPr/>
        </p:nvSpPr>
        <p:spPr>
          <a:xfrm>
            <a:off x="8667750" y="3914775"/>
            <a:ext cx="990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00AFE50-43B7-4185-8D7B-FD9C16ECC96C}"/>
              </a:ext>
            </a:extLst>
          </p:cNvPr>
          <p:cNvSpPr>
            <a:spLocks noGrp="1"/>
          </p:cNvSpPr>
          <p:nvPr/>
        </p:nvSpPr>
        <p:spPr>
          <a:xfrm>
            <a:off x="9696450" y="3943350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lang="ru-RU" sz="1350" b="1" dirty="0" err="1"/>
              <a:t>tracking</a:t>
            </a:r>
            <a:endParaRPr sz="1350" b="1" dirty="0">
              <a:solidFill>
                <a:srgbClr val="F59E0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3A8FD0A-150D-478E-83C7-5F1812F359D8}"/>
              </a:ext>
            </a:extLst>
          </p:cNvPr>
          <p:cNvSpPr>
            <a:spLocks noGrp="1"/>
          </p:cNvSpPr>
          <p:nvPr/>
        </p:nvSpPr>
        <p:spPr>
          <a:xfrm>
            <a:off x="8496300" y="4476750"/>
            <a:ext cx="27241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01CDA52-1A84-4ABB-820C-BFC80A7A1D78}"/>
              </a:ext>
            </a:extLst>
          </p:cNvPr>
          <p:cNvSpPr>
            <a:spLocks noGrp="1"/>
          </p:cNvSpPr>
          <p:nvPr/>
        </p:nvSpPr>
        <p:spPr>
          <a:xfrm>
            <a:off x="8667750" y="4552950"/>
            <a:ext cx="990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router mode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92A41BA-8827-4153-A08C-93EF226193A9}"/>
              </a:ext>
            </a:extLst>
          </p:cNvPr>
          <p:cNvSpPr>
            <a:spLocks noGrp="1"/>
          </p:cNvSpPr>
          <p:nvPr/>
        </p:nvSpPr>
        <p:spPr>
          <a:xfrm>
            <a:off x="9696450" y="4581525"/>
            <a:ext cx="123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classifier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FE27866-9AD5-44D3-A918-F21F7B8E6ADE}"/>
              </a:ext>
            </a:extLst>
          </p:cNvPr>
          <p:cNvSpPr>
            <a:spLocks noGrp="1"/>
          </p:cNvSpPr>
          <p:nvPr/>
        </p:nvSpPr>
        <p:spPr>
          <a:xfrm>
            <a:off x="971550" y="5638800"/>
            <a:ext cx="9525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Слева выбираются модели и router mode. Справа чат, answer и metadata для демонстрации управляемости.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4EC408F-07D2-459C-B2F6-A28F190B5A0C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E86DF7FE-5077-4E1F-878D-C400AB823437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UI: OpenRouter model selection, route metadata, latency, tool/model visibility.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B65508C-B09E-40C4-AB52-5C506FE6784D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48062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D8176E3-81B3-4B93-84E1-29FD08E897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406DA0E-B0FE-4632-8E14-5895C9F1AA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E9F586A-67DB-462F-B84E-64F965E4058B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9F2BCD-5A1E-4B68-B94B-0C4C3832BD72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ПРИМЕРЫ РАБОТЫ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977C7A1-1AAF-440E-93FE-DD9F98E851B2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154984-C6AB-471B-8EFD-F4C169E8385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Пять сценариев показывают переход от cheap model к agent tools.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1AC827E-3D4D-48A5-8FF1-B742E79E600D}"/>
              </a:ext>
            </a:extLst>
          </p:cNvPr>
          <p:cNvSpPr>
            <a:spLocks noGrp="1"/>
          </p:cNvSpPr>
          <p:nvPr/>
        </p:nvSpPr>
        <p:spPr>
          <a:xfrm>
            <a:off x="542925" y="1762125"/>
            <a:ext cx="32194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l="80" r="80"/>
          <a:stretch>
            <a:fillRect/>
          </a:stretch>
        </p:blipFill>
        <p:spPr>
          <a:xfrm>
            <a:off x="552450" y="1771650"/>
            <a:ext cx="3200400" cy="150495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2BD663-82BC-429D-ACB5-6E4BED2AC516}"/>
              </a:ext>
            </a:extLst>
          </p:cNvPr>
          <p:cNvSpPr>
            <a:spLocks noGrp="1"/>
          </p:cNvSpPr>
          <p:nvPr/>
        </p:nvSpPr>
        <p:spPr>
          <a:xfrm>
            <a:off x="552450" y="3276600"/>
            <a:ext cx="3200400" cy="3048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F7A91C4-2A88-4195-8761-C70989930F7C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2933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cheap request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4A78AF9-9649-483B-A1A8-966F05FBF557}"/>
              </a:ext>
            </a:extLst>
          </p:cNvPr>
          <p:cNvSpPr>
            <a:spLocks noGrp="1"/>
          </p:cNvSpPr>
          <p:nvPr/>
        </p:nvSpPr>
        <p:spPr>
          <a:xfrm>
            <a:off x="4276725" y="1762125"/>
            <a:ext cx="32194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rcRect l="217" r="217"/>
          <a:stretch>
            <a:fillRect/>
          </a:stretch>
        </p:blipFill>
        <p:spPr>
          <a:xfrm>
            <a:off x="4286250" y="1771650"/>
            <a:ext cx="3200400" cy="150495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DD47218-A805-4D52-A8A1-1C40B9183FE3}"/>
              </a:ext>
            </a:extLst>
          </p:cNvPr>
          <p:cNvSpPr>
            <a:spLocks noGrp="1"/>
          </p:cNvSpPr>
          <p:nvPr/>
        </p:nvSpPr>
        <p:spPr>
          <a:xfrm>
            <a:off x="4286250" y="3276600"/>
            <a:ext cx="3200400" cy="3048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43A5901-7CE0-465D-AF58-58657E2B4C04}"/>
              </a:ext>
            </a:extLst>
          </p:cNvPr>
          <p:cNvSpPr>
            <a:spLocks noGrp="1"/>
          </p:cNvSpPr>
          <p:nvPr/>
        </p:nvSpPr>
        <p:spPr>
          <a:xfrm>
            <a:off x="4419600" y="3362325"/>
            <a:ext cx="2933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 request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1A75503-5724-4F83-B2D5-D64F7E888E82}"/>
              </a:ext>
            </a:extLst>
          </p:cNvPr>
          <p:cNvSpPr>
            <a:spLocks noGrp="1"/>
          </p:cNvSpPr>
          <p:nvPr/>
        </p:nvSpPr>
        <p:spPr>
          <a:xfrm>
            <a:off x="8010525" y="1762125"/>
            <a:ext cx="32194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rcRect l="302" r="302"/>
          <a:stretch>
            <a:fillRect/>
          </a:stretch>
        </p:blipFill>
        <p:spPr>
          <a:xfrm>
            <a:off x="8020050" y="1771650"/>
            <a:ext cx="3200400" cy="150495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FFA63A5-CC2B-4FD9-A40F-B5B8482A9676}"/>
              </a:ext>
            </a:extLst>
          </p:cNvPr>
          <p:cNvSpPr>
            <a:spLocks noGrp="1"/>
          </p:cNvSpPr>
          <p:nvPr/>
        </p:nvSpPr>
        <p:spPr>
          <a:xfrm>
            <a:off x="8020050" y="3276600"/>
            <a:ext cx="3200400" cy="30480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7358189-9981-4A3E-AD9B-2FFC252BA234}"/>
              </a:ext>
            </a:extLst>
          </p:cNvPr>
          <p:cNvSpPr>
            <a:spLocks noGrp="1"/>
          </p:cNvSpPr>
          <p:nvPr/>
        </p:nvSpPr>
        <p:spPr>
          <a:xfrm>
            <a:off x="8153400" y="3362325"/>
            <a:ext cx="2933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web search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82C60BA-AF94-447F-A31F-DC11B9C16C2E}"/>
              </a:ext>
            </a:extLst>
          </p:cNvPr>
          <p:cNvSpPr>
            <a:spLocks noGrp="1"/>
          </p:cNvSpPr>
          <p:nvPr/>
        </p:nvSpPr>
        <p:spPr>
          <a:xfrm>
            <a:off x="2390775" y="4086225"/>
            <a:ext cx="32194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rcRect l="48" r="48"/>
          <a:stretch>
            <a:fillRect/>
          </a:stretch>
        </p:blipFill>
        <p:spPr>
          <a:xfrm>
            <a:off x="2400300" y="4095750"/>
            <a:ext cx="3200400" cy="1504950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5EAB49F-178F-4966-9381-0A35FDDC72A8}"/>
              </a:ext>
            </a:extLst>
          </p:cNvPr>
          <p:cNvSpPr>
            <a:spLocks noGrp="1"/>
          </p:cNvSpPr>
          <p:nvPr/>
        </p:nvSpPr>
        <p:spPr>
          <a:xfrm>
            <a:off x="2400300" y="5600700"/>
            <a:ext cx="3200400" cy="3048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8DD90CD-1DED-42D9-989B-790D0D109023}"/>
              </a:ext>
            </a:extLst>
          </p:cNvPr>
          <p:cNvSpPr>
            <a:spLocks noGrp="1"/>
          </p:cNvSpPr>
          <p:nvPr/>
        </p:nvSpPr>
        <p:spPr>
          <a:xfrm>
            <a:off x="2533650" y="5686425"/>
            <a:ext cx="2933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 analysis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CBC9D79-8CA2-4FFA-A708-F9F15A183475}"/>
              </a:ext>
            </a:extLst>
          </p:cNvPr>
          <p:cNvSpPr>
            <a:spLocks noGrp="1"/>
          </p:cNvSpPr>
          <p:nvPr/>
        </p:nvSpPr>
        <p:spPr>
          <a:xfrm>
            <a:off x="6124575" y="4086225"/>
            <a:ext cx="321945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7"/>
          <a:srcRect l="191" r="191"/>
          <a:stretch>
            <a:fillRect/>
          </a:stretch>
        </p:blipFill>
        <p:spPr>
          <a:xfrm>
            <a:off x="6134100" y="4095750"/>
            <a:ext cx="3200400" cy="1504950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92DF6EA-9615-415E-AE7E-F08FFB40A754}"/>
              </a:ext>
            </a:extLst>
          </p:cNvPr>
          <p:cNvSpPr>
            <a:spLocks noGrp="1"/>
          </p:cNvSpPr>
          <p:nvPr/>
        </p:nvSpPr>
        <p:spPr>
          <a:xfrm>
            <a:off x="6134100" y="5600700"/>
            <a:ext cx="3200400" cy="3048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55F3707-E59B-440C-A229-CA796342050B}"/>
              </a:ext>
            </a:extLst>
          </p:cNvPr>
          <p:cNvSpPr>
            <a:spLocks noGrp="1"/>
          </p:cNvSpPr>
          <p:nvPr/>
        </p:nvSpPr>
        <p:spPr>
          <a:xfrm>
            <a:off x="6267450" y="5686425"/>
            <a:ext cx="2933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 assistant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5179E4D-A3D2-4188-9BE9-040A5A2E679E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B5AE19D-CEEA-46F6-B8C6-5CD3ED9D6FC9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Screenshots: rules-cheap, classifier-strong, web_search, repo_analysis, code_assistant.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ED94E32-0DE6-4E7E-81DE-6314EA6E3225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29105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968AF04-29CC-4A44-BDC6-39631546FC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86781F-8BE3-4AA7-A79E-63D011A900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E07FC6B-70E5-4611-8388-7F7E8553C3BB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803B3E-90DE-44B4-B67D-9D67F9CEC82B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ЧТО ПОЛУЧИЛОСЬ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42F513D-7178-4CEA-99EC-393F3B7C11AD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AF0DF55-9D1E-4E25-802C-DF64CFA1611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Проект уже выглядит как end-to-end AI infrastructure MVP.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C288A1F-4831-442A-B018-AEC501DF5303}"/>
              </a:ext>
            </a:extLst>
          </p:cNvPr>
          <p:cNvSpPr>
            <a:spLocks noGrp="1"/>
          </p:cNvSpPr>
          <p:nvPr/>
        </p:nvSpPr>
        <p:spPr>
          <a:xfrm>
            <a:off x="1257300" y="2143125"/>
            <a:ext cx="171450" cy="1714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C76877-A656-4837-A3E6-6D832476085E}"/>
              </a:ext>
            </a:extLst>
          </p:cNvPr>
          <p:cNvSpPr>
            <a:spLocks noGrp="1"/>
          </p:cNvSpPr>
          <p:nvPr/>
        </p:nvSpPr>
        <p:spPr>
          <a:xfrm>
            <a:off x="1600200" y="207645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multi-model routing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43E30F1-959E-424D-8EE8-D66A3B8FF7F3}"/>
              </a:ext>
            </a:extLst>
          </p:cNvPr>
          <p:cNvSpPr>
            <a:spLocks noGrp="1"/>
          </p:cNvSpPr>
          <p:nvPr/>
        </p:nvSpPr>
        <p:spPr>
          <a:xfrm>
            <a:off x="1600200" y="2438400"/>
            <a:ext cx="34290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FD75178-D86A-4A54-BF07-1FB0EC2FE7B6}"/>
              </a:ext>
            </a:extLst>
          </p:cNvPr>
          <p:cNvSpPr>
            <a:spLocks noGrp="1"/>
          </p:cNvSpPr>
          <p:nvPr/>
        </p:nvSpPr>
        <p:spPr>
          <a:xfrm>
            <a:off x="6400800" y="2143125"/>
            <a:ext cx="171450" cy="171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26B6122-4BF4-47D9-AB5C-235476948E80}"/>
              </a:ext>
            </a:extLst>
          </p:cNvPr>
          <p:cNvSpPr>
            <a:spLocks noGrp="1"/>
          </p:cNvSpPr>
          <p:nvPr/>
        </p:nvSpPr>
        <p:spPr>
          <a:xfrm>
            <a:off x="6743700" y="207645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OpenRouter integration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32D0359-7948-4853-BCE1-57440A13E0A7}"/>
              </a:ext>
            </a:extLst>
          </p:cNvPr>
          <p:cNvSpPr>
            <a:spLocks noGrp="1"/>
          </p:cNvSpPr>
          <p:nvPr/>
        </p:nvSpPr>
        <p:spPr>
          <a:xfrm>
            <a:off x="6743700" y="2438400"/>
            <a:ext cx="34290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8492D1B-1538-41BC-A62B-20C83212F2A1}"/>
              </a:ext>
            </a:extLst>
          </p:cNvPr>
          <p:cNvSpPr>
            <a:spLocks noGrp="1"/>
          </p:cNvSpPr>
          <p:nvPr/>
        </p:nvSpPr>
        <p:spPr>
          <a:xfrm>
            <a:off x="1257300" y="2924175"/>
            <a:ext cx="171450" cy="1714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239A95-8C88-4806-9078-141E13D3F47B}"/>
              </a:ext>
            </a:extLst>
          </p:cNvPr>
          <p:cNvSpPr>
            <a:spLocks noGrp="1"/>
          </p:cNvSpPr>
          <p:nvPr/>
        </p:nvSpPr>
        <p:spPr>
          <a:xfrm>
            <a:off x="1600200" y="285750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Tavily search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6C3EBE1-3B0D-4CE7-BAE9-7645430ECA5F}"/>
              </a:ext>
            </a:extLst>
          </p:cNvPr>
          <p:cNvSpPr>
            <a:spLocks noGrp="1"/>
          </p:cNvSpPr>
          <p:nvPr/>
        </p:nvSpPr>
        <p:spPr>
          <a:xfrm>
            <a:off x="1600200" y="3219450"/>
            <a:ext cx="34290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66A9A4-E5A4-466D-A6C1-D195494BD504}"/>
              </a:ext>
            </a:extLst>
          </p:cNvPr>
          <p:cNvSpPr>
            <a:spLocks noGrp="1"/>
          </p:cNvSpPr>
          <p:nvPr/>
        </p:nvSpPr>
        <p:spPr>
          <a:xfrm>
            <a:off x="6400800" y="2924175"/>
            <a:ext cx="171450" cy="171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00846A6-B78D-45AE-B147-C71928DD279E}"/>
              </a:ext>
            </a:extLst>
          </p:cNvPr>
          <p:cNvSpPr>
            <a:spLocks noGrp="1"/>
          </p:cNvSpPr>
          <p:nvPr/>
        </p:nvSpPr>
        <p:spPr>
          <a:xfrm>
            <a:off x="6743700" y="285750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GitHub repo analysis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718985C-B7BF-4A8B-81A6-BBEEACD56D78}"/>
              </a:ext>
            </a:extLst>
          </p:cNvPr>
          <p:cNvSpPr>
            <a:spLocks noGrp="1"/>
          </p:cNvSpPr>
          <p:nvPr/>
        </p:nvSpPr>
        <p:spPr>
          <a:xfrm>
            <a:off x="6743700" y="3219450"/>
            <a:ext cx="34290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4DC16D1-4666-4DFF-AAEE-59141B834526}"/>
              </a:ext>
            </a:extLst>
          </p:cNvPr>
          <p:cNvSpPr>
            <a:spLocks noGrp="1"/>
          </p:cNvSpPr>
          <p:nvPr/>
        </p:nvSpPr>
        <p:spPr>
          <a:xfrm>
            <a:off x="1257300" y="3705225"/>
            <a:ext cx="171450" cy="1714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B754ACA-62C1-4CA1-A849-50CB3432C91B}"/>
              </a:ext>
            </a:extLst>
          </p:cNvPr>
          <p:cNvSpPr>
            <a:spLocks noGrp="1"/>
          </p:cNvSpPr>
          <p:nvPr/>
        </p:nvSpPr>
        <p:spPr>
          <a:xfrm>
            <a:off x="1600200" y="363855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code generation/debugging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A8FB364-02C0-490B-84B1-313422846033}"/>
              </a:ext>
            </a:extLst>
          </p:cNvPr>
          <p:cNvSpPr>
            <a:spLocks noGrp="1"/>
          </p:cNvSpPr>
          <p:nvPr/>
        </p:nvSpPr>
        <p:spPr>
          <a:xfrm>
            <a:off x="1600200" y="4000500"/>
            <a:ext cx="34290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06CC66C-20FE-444A-B864-AE92782BB4FF}"/>
              </a:ext>
            </a:extLst>
          </p:cNvPr>
          <p:cNvSpPr>
            <a:spLocks noGrp="1"/>
          </p:cNvSpPr>
          <p:nvPr/>
        </p:nvSpPr>
        <p:spPr>
          <a:xfrm>
            <a:off x="6400800" y="3705225"/>
            <a:ext cx="171450" cy="1714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4D751F0-9A89-49AA-9A29-A4B51285E9A5}"/>
              </a:ext>
            </a:extLst>
          </p:cNvPr>
          <p:cNvSpPr>
            <a:spLocks noGrp="1"/>
          </p:cNvSpPr>
          <p:nvPr/>
        </p:nvSpPr>
        <p:spPr>
          <a:xfrm>
            <a:off x="6743700" y="363855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Streamlit UI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A667BA4-DAFD-4D6B-B422-FCCDE4BA81F2}"/>
              </a:ext>
            </a:extLst>
          </p:cNvPr>
          <p:cNvSpPr>
            <a:spLocks noGrp="1"/>
          </p:cNvSpPr>
          <p:nvPr/>
        </p:nvSpPr>
        <p:spPr>
          <a:xfrm>
            <a:off x="6743700" y="4000500"/>
            <a:ext cx="34290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0F6C780-D17D-4F46-B5B8-C97BED9ACDF4}"/>
              </a:ext>
            </a:extLst>
          </p:cNvPr>
          <p:cNvSpPr>
            <a:spLocks noGrp="1"/>
          </p:cNvSpPr>
          <p:nvPr/>
        </p:nvSpPr>
        <p:spPr>
          <a:xfrm>
            <a:off x="1257300" y="4486275"/>
            <a:ext cx="171450" cy="1714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745E7B0-6054-4777-B214-426B553961D3}"/>
              </a:ext>
            </a:extLst>
          </p:cNvPr>
          <p:cNvSpPr>
            <a:spLocks noGrp="1"/>
          </p:cNvSpPr>
          <p:nvPr/>
        </p:nvSpPr>
        <p:spPr>
          <a:xfrm>
            <a:off x="1600200" y="4419600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evaluation pipeline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6C1E8C8-6B45-48B6-85B8-A24BAB96DD4B}"/>
              </a:ext>
            </a:extLst>
          </p:cNvPr>
          <p:cNvSpPr>
            <a:spLocks noGrp="1"/>
          </p:cNvSpPr>
          <p:nvPr/>
        </p:nvSpPr>
        <p:spPr>
          <a:xfrm>
            <a:off x="1600200" y="4781550"/>
            <a:ext cx="34290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2E94191-7334-43D4-96BC-F05C3BB78133}"/>
              </a:ext>
            </a:extLst>
          </p:cNvPr>
          <p:cNvSpPr>
            <a:spLocks noGrp="1"/>
          </p:cNvSpPr>
          <p:nvPr/>
        </p:nvSpPr>
        <p:spPr>
          <a:xfrm>
            <a:off x="2457450" y="5467350"/>
            <a:ext cx="7277100" cy="60960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BFAAAFC-15CB-4329-9C63-273EDA5E0D25}"/>
              </a:ext>
            </a:extLst>
          </p:cNvPr>
          <p:cNvSpPr>
            <a:spLocks noGrp="1"/>
          </p:cNvSpPr>
          <p:nvPr/>
        </p:nvSpPr>
        <p:spPr>
          <a:xfrm>
            <a:off x="2781300" y="5629275"/>
            <a:ext cx="6629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Главная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ценность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не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просто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чат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а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управляемый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слой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выбора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модели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tools</a:t>
            </a:r>
            <a:r>
              <a:rPr lang="ru-RU"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</a:t>
            </a:r>
            <a:r>
              <a:rPr lang="ru-RU" sz="1200" b="1" dirty="0" err="1"/>
              <a:t>metadata</a:t>
            </a:r>
            <a:r>
              <a:rPr lang="ru-RU" sz="1200" b="1" dirty="0"/>
              <a:t> </a:t>
            </a:r>
            <a:r>
              <a:rPr lang="ru-RU" sz="1200" b="1" dirty="0" err="1"/>
              <a:t>visibility</a:t>
            </a:r>
            <a:r>
              <a:rPr lang="ru-RU" sz="1200" b="1" dirty="0"/>
              <a:t> и 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fallback.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2D7AEDE-39C2-44BA-8D50-A6E36A2C7E3A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D53662A-CF7F-47FB-8F7F-32830067D6EB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MVP scope: API, UI, tools, model provider layer, evaluation.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111AECF4-114C-40A5-BDCE-BF7C5C4F65A6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1676661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8DF184E-4DF9-4595-92D2-F397BBAC58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5F7BB5F-7ECD-4F74-AF1D-55EC6235A7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FA0EADF-301F-4A93-A018-B833569522EB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85725" cy="8572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9AA216-3CD1-436B-A34A-E66E44BF34C2}"/>
              </a:ext>
            </a:extLst>
          </p:cNvPr>
          <p:cNvSpPr>
            <a:spLocks noGrp="1"/>
          </p:cNvSpPr>
          <p:nvPr/>
        </p:nvSpPr>
        <p:spPr>
          <a:xfrm>
            <a:off x="742950" y="3905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5C66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C6675"/>
                </a:solidFill>
                <a:latin typeface="Aptos"/>
                <a:ea typeface="Aptos"/>
                <a:cs typeface="Aptos"/>
              </a:rPr>
              <a:t>ДАЛЬНЕЙШИЕ УЛУЧШЕНИЯ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4777481-6EE0-4718-B615-0B8A79D207DF}"/>
              </a:ext>
            </a:extLst>
          </p:cNvPr>
          <p:cNvSpPr>
            <a:spLocks noGrp="1"/>
          </p:cNvSpPr>
          <p:nvPr/>
        </p:nvSpPr>
        <p:spPr>
          <a:xfrm>
            <a:off x="11163300" y="3619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675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F1227F-7D1A-4FF9-8D89-BB7F87400E8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Следующий этап: измеримость, production observability и более сложные workflows.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BE3B17D-BDE6-48AF-8DD8-990CD09C85FD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495300" cy="4953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87FFA6D-3A6A-4899-ABB3-195DF89B56DF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65EA000-5082-4ED2-95F2-EFDAED1D0814}"/>
              </a:ext>
            </a:extLst>
          </p:cNvPr>
          <p:cNvSpPr>
            <a:spLocks noGrp="1"/>
          </p:cNvSpPr>
          <p:nvPr/>
        </p:nvSpPr>
        <p:spPr>
          <a:xfrm>
            <a:off x="533400" y="356235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cost/latency benchmark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7757B3B-D8EB-424F-B3B6-0DF496BBAFF8}"/>
              </a:ext>
            </a:extLst>
          </p:cNvPr>
          <p:cNvSpPr>
            <a:spLocks noGrp="1"/>
          </p:cNvSpPr>
          <p:nvPr/>
        </p:nvSpPr>
        <p:spPr>
          <a:xfrm>
            <a:off x="1428750" y="3086100"/>
            <a:ext cx="78105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Равнобедренный треугольник 10">
            <a:extLst>
              <a:ext uri="{FF2B5EF4-FFF2-40B4-BE49-F238E27FC236}">
                <a16:creationId xmlns:a16="http://schemas.microsoft.com/office/drawing/2014/main" id="{A8367BFF-33A7-4955-B1D0-091A1E729186}"/>
              </a:ext>
            </a:extLst>
          </p:cNvPr>
          <p:cNvSpPr>
            <a:spLocks noGrp="1"/>
          </p:cNvSpPr>
          <p:nvPr/>
        </p:nvSpPr>
        <p:spPr>
          <a:xfrm>
            <a:off x="2133600" y="3048000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6E2DE40-18D4-4753-BA4C-368DE08D014C}"/>
              </a:ext>
            </a:extLst>
          </p:cNvPr>
          <p:cNvSpPr>
            <a:spLocks noGrp="1"/>
          </p:cNvSpPr>
          <p:nvPr/>
        </p:nvSpPr>
        <p:spPr>
          <a:xfrm>
            <a:off x="2590800" y="3600450"/>
            <a:ext cx="495300" cy="4953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041408F-8F01-4358-BE16-436AE444A533}"/>
              </a:ext>
            </a:extLst>
          </p:cNvPr>
          <p:cNvSpPr>
            <a:spLocks noGrp="1"/>
          </p:cNvSpPr>
          <p:nvPr/>
        </p:nvSpPr>
        <p:spPr>
          <a:xfrm>
            <a:off x="2590800" y="3714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19547C-2CB9-4CC3-94DE-84BE87A58EE2}"/>
              </a:ext>
            </a:extLst>
          </p:cNvPr>
          <p:cNvSpPr>
            <a:spLocks noGrp="1"/>
          </p:cNvSpPr>
          <p:nvPr/>
        </p:nvSpPr>
        <p:spPr>
          <a:xfrm>
            <a:off x="2305050" y="432435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observability dashboard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5BD3672-7791-4533-AE3C-E5925A643A52}"/>
              </a:ext>
            </a:extLst>
          </p:cNvPr>
          <p:cNvSpPr>
            <a:spLocks noGrp="1"/>
          </p:cNvSpPr>
          <p:nvPr/>
        </p:nvSpPr>
        <p:spPr>
          <a:xfrm>
            <a:off x="3200400" y="3848100"/>
            <a:ext cx="78105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Равнобедренный треугольник 15">
            <a:extLst>
              <a:ext uri="{FF2B5EF4-FFF2-40B4-BE49-F238E27FC236}">
                <a16:creationId xmlns:a16="http://schemas.microsoft.com/office/drawing/2014/main" id="{79990383-582F-4948-8CF9-3C79BAD53A1C}"/>
              </a:ext>
            </a:extLst>
          </p:cNvPr>
          <p:cNvSpPr>
            <a:spLocks noGrp="1"/>
          </p:cNvSpPr>
          <p:nvPr/>
        </p:nvSpPr>
        <p:spPr>
          <a:xfrm>
            <a:off x="3905250" y="3810000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B3715D4-D391-4FE6-96C2-6CC63AA12078}"/>
              </a:ext>
            </a:extLst>
          </p:cNvPr>
          <p:cNvSpPr>
            <a:spLocks noGrp="1"/>
          </p:cNvSpPr>
          <p:nvPr/>
        </p:nvSpPr>
        <p:spPr>
          <a:xfrm>
            <a:off x="4362450" y="2838450"/>
            <a:ext cx="495300" cy="4953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F3F92C6-0FEB-471F-BC8B-36CCCD15E484}"/>
              </a:ext>
            </a:extLst>
          </p:cNvPr>
          <p:cNvSpPr>
            <a:spLocks noGrp="1"/>
          </p:cNvSpPr>
          <p:nvPr/>
        </p:nvSpPr>
        <p:spPr>
          <a:xfrm>
            <a:off x="4362450" y="2952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3F3B9BA-9791-463A-950D-4903F44E78D3}"/>
              </a:ext>
            </a:extLst>
          </p:cNvPr>
          <p:cNvSpPr>
            <a:spLocks noGrp="1"/>
          </p:cNvSpPr>
          <p:nvPr/>
        </p:nvSpPr>
        <p:spPr>
          <a:xfrm>
            <a:off x="4076700" y="356235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multi-tool workflows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C7E4BDD-5601-49BD-9D2A-4F47815912E5}"/>
              </a:ext>
            </a:extLst>
          </p:cNvPr>
          <p:cNvSpPr>
            <a:spLocks noGrp="1"/>
          </p:cNvSpPr>
          <p:nvPr/>
        </p:nvSpPr>
        <p:spPr>
          <a:xfrm>
            <a:off x="4972050" y="3086100"/>
            <a:ext cx="78105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Равнобедренный треугольник 20">
            <a:extLst>
              <a:ext uri="{FF2B5EF4-FFF2-40B4-BE49-F238E27FC236}">
                <a16:creationId xmlns:a16="http://schemas.microsoft.com/office/drawing/2014/main" id="{B7EE474A-83CE-4A1D-86A8-73470FB6E873}"/>
              </a:ext>
            </a:extLst>
          </p:cNvPr>
          <p:cNvSpPr>
            <a:spLocks noGrp="1"/>
          </p:cNvSpPr>
          <p:nvPr/>
        </p:nvSpPr>
        <p:spPr>
          <a:xfrm>
            <a:off x="5676900" y="3048000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943F140-8695-45D1-BB15-027CF13E1AA2}"/>
              </a:ext>
            </a:extLst>
          </p:cNvPr>
          <p:cNvSpPr>
            <a:spLocks noGrp="1"/>
          </p:cNvSpPr>
          <p:nvPr/>
        </p:nvSpPr>
        <p:spPr>
          <a:xfrm>
            <a:off x="6134100" y="3600450"/>
            <a:ext cx="495300" cy="4953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11654B2-76BA-4CAF-AC55-2303EA15D130}"/>
              </a:ext>
            </a:extLst>
          </p:cNvPr>
          <p:cNvSpPr>
            <a:spLocks noGrp="1"/>
          </p:cNvSpPr>
          <p:nvPr/>
        </p:nvSpPr>
        <p:spPr>
          <a:xfrm>
            <a:off x="6134100" y="3714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7DF5102-8618-42AC-A3DD-2158A3CF57BD}"/>
              </a:ext>
            </a:extLst>
          </p:cNvPr>
          <p:cNvSpPr>
            <a:spLocks noGrp="1"/>
          </p:cNvSpPr>
          <p:nvPr/>
        </p:nvSpPr>
        <p:spPr>
          <a:xfrm>
            <a:off x="5848350" y="432435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memory / RAG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2459CED-8B8D-4B39-9923-A6C2E0D199F0}"/>
              </a:ext>
            </a:extLst>
          </p:cNvPr>
          <p:cNvSpPr>
            <a:spLocks noGrp="1"/>
          </p:cNvSpPr>
          <p:nvPr/>
        </p:nvSpPr>
        <p:spPr>
          <a:xfrm>
            <a:off x="6743700" y="3848100"/>
            <a:ext cx="78105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Равнобедренный треугольник 25">
            <a:extLst>
              <a:ext uri="{FF2B5EF4-FFF2-40B4-BE49-F238E27FC236}">
                <a16:creationId xmlns:a16="http://schemas.microsoft.com/office/drawing/2014/main" id="{AA185DA7-6DD0-4FE1-B965-98F8FCC116C6}"/>
              </a:ext>
            </a:extLst>
          </p:cNvPr>
          <p:cNvSpPr>
            <a:spLocks noGrp="1"/>
          </p:cNvSpPr>
          <p:nvPr/>
        </p:nvSpPr>
        <p:spPr>
          <a:xfrm>
            <a:off x="7448550" y="3810000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06F969AD-0630-4FB9-A34A-36AE96BD9754}"/>
              </a:ext>
            </a:extLst>
          </p:cNvPr>
          <p:cNvSpPr>
            <a:spLocks noGrp="1"/>
          </p:cNvSpPr>
          <p:nvPr/>
        </p:nvSpPr>
        <p:spPr>
          <a:xfrm>
            <a:off x="7905750" y="2838450"/>
            <a:ext cx="495300" cy="495300"/>
          </a:xfrm>
          <a:prstGeom prst="rect">
            <a:avLst/>
          </a:prstGeom>
          <a:solidFill>
            <a:srgbClr val="0EA5E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07D18695-0E78-4EC7-927F-D006AB07045A}"/>
              </a:ext>
            </a:extLst>
          </p:cNvPr>
          <p:cNvSpPr>
            <a:spLocks noGrp="1"/>
          </p:cNvSpPr>
          <p:nvPr/>
        </p:nvSpPr>
        <p:spPr>
          <a:xfrm>
            <a:off x="7905750" y="2952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7A47EB2-3FC2-4C31-B2AA-EC1D232499FA}"/>
              </a:ext>
            </a:extLst>
          </p:cNvPr>
          <p:cNvSpPr>
            <a:spLocks noGrp="1"/>
          </p:cNvSpPr>
          <p:nvPr/>
        </p:nvSpPr>
        <p:spPr>
          <a:xfrm>
            <a:off x="7620000" y="356235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4328CB3-A308-4C5C-9A50-07226CB20463}"/>
              </a:ext>
            </a:extLst>
          </p:cNvPr>
          <p:cNvSpPr>
            <a:spLocks noGrp="1"/>
          </p:cNvSpPr>
          <p:nvPr/>
        </p:nvSpPr>
        <p:spPr>
          <a:xfrm>
            <a:off x="8515350" y="3086100"/>
            <a:ext cx="781050" cy="19050"/>
          </a:xfrm>
          <a:prstGeom prst="rect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Равнобедренный треугольник 30">
            <a:extLst>
              <a:ext uri="{FF2B5EF4-FFF2-40B4-BE49-F238E27FC236}">
                <a16:creationId xmlns:a16="http://schemas.microsoft.com/office/drawing/2014/main" id="{FF44E6E1-3913-4377-9C9C-9F81B591E691}"/>
              </a:ext>
            </a:extLst>
          </p:cNvPr>
          <p:cNvSpPr>
            <a:spLocks noGrp="1"/>
          </p:cNvSpPr>
          <p:nvPr/>
        </p:nvSpPr>
        <p:spPr>
          <a:xfrm>
            <a:off x="9220200" y="3048000"/>
            <a:ext cx="76200" cy="76200"/>
          </a:xfrm>
          <a:prstGeom prst="triangle">
            <a:avLst/>
          </a:prstGeom>
          <a:solidFill>
            <a:srgbClr val="5C667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E1BC7E3-4E79-4CF5-83AA-3D6601A2D8CA}"/>
              </a:ext>
            </a:extLst>
          </p:cNvPr>
          <p:cNvSpPr>
            <a:spLocks noGrp="1"/>
          </p:cNvSpPr>
          <p:nvPr/>
        </p:nvSpPr>
        <p:spPr>
          <a:xfrm>
            <a:off x="9677400" y="3600450"/>
            <a:ext cx="495300" cy="4953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1D03C68B-D90F-4A85-A029-E58115F117F9}"/>
              </a:ext>
            </a:extLst>
          </p:cNvPr>
          <p:cNvSpPr>
            <a:spLocks noGrp="1"/>
          </p:cNvSpPr>
          <p:nvPr/>
        </p:nvSpPr>
        <p:spPr>
          <a:xfrm>
            <a:off x="9677400" y="3714750"/>
            <a:ext cx="495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9A87CBD-8B72-480B-A52D-281DD78296CD}"/>
              </a:ext>
            </a:extLst>
          </p:cNvPr>
          <p:cNvSpPr>
            <a:spLocks noGrp="1"/>
          </p:cNvSpPr>
          <p:nvPr/>
        </p:nvSpPr>
        <p:spPr>
          <a:xfrm>
            <a:off x="9391650" y="432435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локальные модели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3657338-BC02-4CA2-B869-173B296C58C2}"/>
              </a:ext>
            </a:extLst>
          </p:cNvPr>
          <p:cNvSpPr>
            <a:spLocks noGrp="1"/>
          </p:cNvSpPr>
          <p:nvPr/>
        </p:nvSpPr>
        <p:spPr>
          <a:xfrm>
            <a:off x="2038350" y="544830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Из MVP можно развивать production-grade AI router: дешевле, быстрее, наблюдаемее и безопаснее.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532DE7E3-7655-48F3-A289-7EC15760CE58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9525"/>
          </a:xfrm>
          <a:prstGeom prst="rect">
            <a:avLst/>
          </a:prstGeom>
          <a:solidFill>
            <a:srgbClr val="D7DD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7B4F2BB-A012-45A1-8CAC-59827F3CE73F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70485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Roadmap: benchmarks, observability, multi-tool agents, RAG, deployment, local models.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44938FC-B85F-4CF9-9CD7-8605CBAC8E5B}"/>
              </a:ext>
            </a:extLst>
          </p:cNvPr>
          <p:cNvSpPr>
            <a:spLocks noGrp="1"/>
          </p:cNvSpPr>
          <p:nvPr/>
        </p:nvSpPr>
        <p:spPr>
          <a:xfrm>
            <a:off x="9677400" y="6534150"/>
            <a:ext cx="1962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8792A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792A2"/>
                </a:solidFill>
                <a:latin typeface="Aptos"/>
                <a:ea typeface="Aptos"/>
                <a:cs typeface="Aptos"/>
              </a:rPr>
              <a:t>LLM Router Agent</a:t>
            </a:r>
          </a:p>
        </p:txBody>
      </p:sp>
    </p:spTree>
    <p:extLst>
      <p:ext uri="{BB962C8B-B14F-4D97-AF65-F5344CB8AC3E}">
        <p14:creationId xmlns:p14="http://schemas.microsoft.com/office/powerpoint/2010/main" val="4832972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623</Words>
  <Application>Microsoft Office PowerPoint</Application>
  <DocSecurity>0</DocSecurity>
  <PresentationFormat>Широкоэкранный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Aptos Mono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Oleg Leksin</cp:lastModifiedBy>
  <cp:revision>2</cp:revision>
  <dcterms:created xsi:type="dcterms:W3CDTF">2026-05-20T15:52:08Z</dcterms:created>
  <dcterms:modified xsi:type="dcterms:W3CDTF">2026-05-20T16:12:49Z</dcterms:modified>
</cp:coreProperties>
</file>